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4630400" cy="8229600"/>
  <p:notesSz cx="8229600" cy="14630400"/>
  <p:embeddedFontLst>
    <p:embeddedFont>
      <p:font typeface="Fira Sans" panose="020F0502020204030204" pitchFamily="34" charset="0"/>
      <p:regular r:id="rId16"/>
    </p:embeddedFont>
    <p:embeddedFont>
      <p:font typeface="Inconsolata Bold" pitchFamily="1" charset="0"/>
      <p:bold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8972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241631"/>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500902"/>
            <a:ext cx="7556421" cy="2835116"/>
          </a:xfrm>
          <a:prstGeom prst="rect">
            <a:avLst/>
          </a:prstGeom>
          <a:noFill/>
          <a:ln/>
        </p:spPr>
        <p:txBody>
          <a:bodyPr wrap="squar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AI vs. Real Voice Classifier: Combating the Dangers of AI-Generated Audio</a:t>
            </a:r>
            <a:endParaRPr lang="en-US" sz="4450" dirty="0"/>
          </a:p>
        </p:txBody>
      </p:sp>
      <p:sp>
        <p:nvSpPr>
          <p:cNvPr id="4" name="Text 1"/>
          <p:cNvSpPr/>
          <p:nvPr/>
        </p:nvSpPr>
        <p:spPr>
          <a:xfrm>
            <a:off x="6280190" y="4676180"/>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We use deep learning to distinguish real voices from AI-generated audio. </a:t>
            </a:r>
            <a:endParaRPr lang="en-US" sz="1750" dirty="0"/>
          </a:p>
        </p:txBody>
      </p:sp>
      <p:sp>
        <p:nvSpPr>
          <p:cNvPr id="5" name="Text 2"/>
          <p:cNvSpPr/>
          <p:nvPr/>
        </p:nvSpPr>
        <p:spPr>
          <a:xfrm>
            <a:off x="6280190" y="5481280"/>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Our goal: Help protect society from synthetic voice misuse. </a:t>
            </a:r>
            <a:endParaRPr lang="en-US" sz="1750" dirty="0"/>
          </a:p>
        </p:txBody>
      </p:sp>
      <p:sp>
        <p:nvSpPr>
          <p:cNvPr id="6" name="Text 3"/>
          <p:cNvSpPr/>
          <p:nvPr/>
        </p:nvSpPr>
        <p:spPr>
          <a:xfrm>
            <a:off x="6280190" y="5923478"/>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Team members: Roshan Nair and Jayaaditya S. </a:t>
            </a:r>
            <a:endParaRPr lang="en-US" sz="1750" dirty="0"/>
          </a:p>
        </p:txBody>
      </p:sp>
      <p:sp>
        <p:nvSpPr>
          <p:cNvPr id="7" name="Text 4"/>
          <p:cNvSpPr/>
          <p:nvPr/>
        </p:nvSpPr>
        <p:spPr>
          <a:xfrm>
            <a:off x="6280190" y="6365677"/>
            <a:ext cx="75564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Deep learning Project</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75322"/>
          </a:xfrm>
          <a:prstGeom prst="rect">
            <a:avLst/>
          </a:prstGeom>
        </p:spPr>
      </p:pic>
      <p:sp>
        <p:nvSpPr>
          <p:cNvPr id="3" name="Text 0"/>
          <p:cNvSpPr/>
          <p:nvPr/>
        </p:nvSpPr>
        <p:spPr>
          <a:xfrm>
            <a:off x="721043" y="3141821"/>
            <a:ext cx="8496657" cy="643771"/>
          </a:xfrm>
          <a:prstGeom prst="rect">
            <a:avLst/>
          </a:prstGeom>
          <a:noFill/>
          <a:ln/>
        </p:spPr>
        <p:txBody>
          <a:bodyPr wrap="none" lIns="0" tIns="0" rIns="0" bIns="0" rtlCol="0" anchor="t"/>
          <a:lstStyle/>
          <a:p>
            <a:pPr marL="0" indent="0" algn="l">
              <a:lnSpc>
                <a:spcPts val="5050"/>
              </a:lnSpc>
              <a:buNone/>
            </a:pPr>
            <a:r>
              <a:rPr lang="en-US" sz="4050" b="1" dirty="0">
                <a:solidFill>
                  <a:srgbClr val="F94CAF"/>
                </a:solidFill>
                <a:latin typeface="Inconsolata Bold" pitchFamily="34" charset="0"/>
                <a:ea typeface="Inconsolata Bold" pitchFamily="34" charset="-122"/>
                <a:cs typeface="Inconsolata Bold" pitchFamily="34" charset="-120"/>
              </a:rPr>
              <a:t>The Dangers of AI-Generated Audio</a:t>
            </a:r>
            <a:endParaRPr lang="en-US" sz="4050" dirty="0"/>
          </a:p>
        </p:txBody>
      </p:sp>
      <p:sp>
        <p:nvSpPr>
          <p:cNvPr id="4" name="Shape 1"/>
          <p:cNvSpPr/>
          <p:nvPr/>
        </p:nvSpPr>
        <p:spPr>
          <a:xfrm>
            <a:off x="721043" y="4094559"/>
            <a:ext cx="6491168" cy="1846064"/>
          </a:xfrm>
          <a:prstGeom prst="roundRect">
            <a:avLst>
              <a:gd name="adj" fmla="val 1674"/>
            </a:avLst>
          </a:prstGeom>
          <a:solidFill>
            <a:srgbClr val="433550"/>
          </a:solidFill>
          <a:ln/>
        </p:spPr>
      </p:sp>
      <p:sp>
        <p:nvSpPr>
          <p:cNvPr id="5" name="Text 2"/>
          <p:cNvSpPr/>
          <p:nvPr/>
        </p:nvSpPr>
        <p:spPr>
          <a:xfrm>
            <a:off x="927021" y="4300538"/>
            <a:ext cx="2575322" cy="321826"/>
          </a:xfrm>
          <a:prstGeom prst="rect">
            <a:avLst/>
          </a:prstGeom>
          <a:noFill/>
          <a:ln/>
        </p:spPr>
        <p:txBody>
          <a:bodyPr wrap="none" lIns="0" tIns="0" rIns="0" bIns="0" rtlCol="0" anchor="t"/>
          <a:lstStyle/>
          <a:p>
            <a:pPr marL="0" indent="0" algn="l">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Misinformation</a:t>
            </a:r>
            <a:endParaRPr lang="en-US" sz="2000" dirty="0"/>
          </a:p>
        </p:txBody>
      </p:sp>
      <p:sp>
        <p:nvSpPr>
          <p:cNvPr id="6" name="Text 3"/>
          <p:cNvSpPr/>
          <p:nvPr/>
        </p:nvSpPr>
        <p:spPr>
          <a:xfrm>
            <a:off x="927021" y="4745950"/>
            <a:ext cx="6079212" cy="329565"/>
          </a:xfrm>
          <a:prstGeom prst="rect">
            <a:avLst/>
          </a:prstGeom>
          <a:noFill/>
          <a:ln/>
        </p:spPr>
        <p:txBody>
          <a:bodyPr wrap="none" lIns="0" tIns="0" rIns="0" bIns="0" rtlCol="0" anchor="t"/>
          <a:lstStyle/>
          <a:p>
            <a:pPr marL="0" indent="0" algn="l">
              <a:lnSpc>
                <a:spcPts val="2550"/>
              </a:lnSpc>
              <a:buNone/>
            </a:pPr>
            <a:r>
              <a:rPr lang="en-US" sz="1600" dirty="0">
                <a:solidFill>
                  <a:srgbClr val="DAD1E6"/>
                </a:solidFill>
                <a:latin typeface="Fira Sans" pitchFamily="34" charset="0"/>
                <a:ea typeface="Fira Sans" pitchFamily="34" charset="-122"/>
                <a:cs typeface="Fira Sans" pitchFamily="34" charset="-120"/>
              </a:rPr>
              <a:t>Fake audio fuels scams, deepfake media, and propaganda risks.</a:t>
            </a:r>
            <a:endParaRPr lang="en-US" sz="1600" dirty="0"/>
          </a:p>
        </p:txBody>
      </p:sp>
      <p:sp>
        <p:nvSpPr>
          <p:cNvPr id="7" name="Shape 4"/>
          <p:cNvSpPr/>
          <p:nvPr/>
        </p:nvSpPr>
        <p:spPr>
          <a:xfrm>
            <a:off x="7418189" y="4094559"/>
            <a:ext cx="6491168" cy="1846064"/>
          </a:xfrm>
          <a:prstGeom prst="roundRect">
            <a:avLst>
              <a:gd name="adj" fmla="val 1674"/>
            </a:avLst>
          </a:prstGeom>
          <a:solidFill>
            <a:srgbClr val="433550"/>
          </a:solidFill>
          <a:ln/>
        </p:spPr>
      </p:sp>
      <p:sp>
        <p:nvSpPr>
          <p:cNvPr id="8" name="Text 5"/>
          <p:cNvSpPr/>
          <p:nvPr/>
        </p:nvSpPr>
        <p:spPr>
          <a:xfrm>
            <a:off x="7624167" y="4300538"/>
            <a:ext cx="2575322" cy="321826"/>
          </a:xfrm>
          <a:prstGeom prst="rect">
            <a:avLst/>
          </a:prstGeom>
          <a:noFill/>
          <a:ln/>
        </p:spPr>
        <p:txBody>
          <a:bodyPr wrap="none" lIns="0" tIns="0" rIns="0" bIns="0" rtlCol="0" anchor="t"/>
          <a:lstStyle/>
          <a:p>
            <a:pPr marL="0" indent="0" algn="l">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Identity Theft</a:t>
            </a:r>
            <a:endParaRPr lang="en-US" sz="2000" dirty="0"/>
          </a:p>
        </p:txBody>
      </p:sp>
      <p:sp>
        <p:nvSpPr>
          <p:cNvPr id="9" name="Text 6"/>
          <p:cNvSpPr/>
          <p:nvPr/>
        </p:nvSpPr>
        <p:spPr>
          <a:xfrm>
            <a:off x="7624167" y="4745950"/>
            <a:ext cx="6079212" cy="988695"/>
          </a:xfrm>
          <a:prstGeom prst="rect">
            <a:avLst/>
          </a:prstGeom>
          <a:noFill/>
          <a:ln/>
        </p:spPr>
        <p:txBody>
          <a:bodyPr wrap="square" lIns="0" tIns="0" rIns="0" bIns="0" rtlCol="0" anchor="t"/>
          <a:lstStyle/>
          <a:p>
            <a:pPr marL="0" indent="0" algn="l">
              <a:lnSpc>
                <a:spcPts val="2550"/>
              </a:lnSpc>
              <a:buNone/>
            </a:pPr>
            <a:r>
              <a:rPr lang="en-US" sz="1600" dirty="0">
                <a:solidFill>
                  <a:srgbClr val="DAD1E6"/>
                </a:solidFill>
                <a:latin typeface="Fira Sans" pitchFamily="34" charset="0"/>
                <a:ea typeface="Fira Sans" pitchFamily="34" charset="-122"/>
                <a:cs typeface="Fira Sans" pitchFamily="34" charset="-120"/>
              </a:rPr>
              <a:t>Impersonation via synthetic voices causes fraud and damage. We have seen so many cases where the voices of celebrities are being mimicked and misuses.</a:t>
            </a:r>
            <a:endParaRPr lang="en-US" sz="1600" dirty="0"/>
          </a:p>
        </p:txBody>
      </p:sp>
      <p:sp>
        <p:nvSpPr>
          <p:cNvPr id="10" name="Shape 7"/>
          <p:cNvSpPr/>
          <p:nvPr/>
        </p:nvSpPr>
        <p:spPr>
          <a:xfrm>
            <a:off x="721043" y="6146602"/>
            <a:ext cx="6491168" cy="1516499"/>
          </a:xfrm>
          <a:prstGeom prst="roundRect">
            <a:avLst>
              <a:gd name="adj" fmla="val 2038"/>
            </a:avLst>
          </a:prstGeom>
          <a:solidFill>
            <a:srgbClr val="433550"/>
          </a:solidFill>
          <a:ln/>
        </p:spPr>
      </p:sp>
      <p:sp>
        <p:nvSpPr>
          <p:cNvPr id="11" name="Text 8"/>
          <p:cNvSpPr/>
          <p:nvPr/>
        </p:nvSpPr>
        <p:spPr>
          <a:xfrm>
            <a:off x="927021" y="6352580"/>
            <a:ext cx="2575322" cy="321826"/>
          </a:xfrm>
          <a:prstGeom prst="rect">
            <a:avLst/>
          </a:prstGeom>
          <a:noFill/>
          <a:ln/>
        </p:spPr>
        <p:txBody>
          <a:bodyPr wrap="none" lIns="0" tIns="0" rIns="0" bIns="0" rtlCol="0" anchor="t"/>
          <a:lstStyle/>
          <a:p>
            <a:pPr marL="0" indent="0" algn="l">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Erosion of Trust</a:t>
            </a:r>
            <a:endParaRPr lang="en-US" sz="2000" dirty="0"/>
          </a:p>
        </p:txBody>
      </p:sp>
      <p:sp>
        <p:nvSpPr>
          <p:cNvPr id="12" name="Text 9"/>
          <p:cNvSpPr/>
          <p:nvPr/>
        </p:nvSpPr>
        <p:spPr>
          <a:xfrm>
            <a:off x="927021" y="6797993"/>
            <a:ext cx="6079212" cy="659130"/>
          </a:xfrm>
          <a:prstGeom prst="rect">
            <a:avLst/>
          </a:prstGeom>
          <a:noFill/>
          <a:ln/>
        </p:spPr>
        <p:txBody>
          <a:bodyPr wrap="square" lIns="0" tIns="0" rIns="0" bIns="0" rtlCol="0" anchor="t"/>
          <a:lstStyle/>
          <a:p>
            <a:pPr marL="0" indent="0" algn="l">
              <a:lnSpc>
                <a:spcPts val="2550"/>
              </a:lnSpc>
              <a:buNone/>
            </a:pPr>
            <a:r>
              <a:rPr lang="en-US" sz="1600" dirty="0">
                <a:solidFill>
                  <a:srgbClr val="DAD1E6"/>
                </a:solidFill>
                <a:latin typeface="Fira Sans" pitchFamily="34" charset="0"/>
                <a:ea typeface="Fira Sans" pitchFamily="34" charset="-122"/>
                <a:cs typeface="Fira Sans" pitchFamily="34" charset="-120"/>
              </a:rPr>
              <a:t>Difficulty distinguishing fake audio undermines media credibility.</a:t>
            </a:r>
            <a:endParaRPr lang="en-US" sz="1600" dirty="0"/>
          </a:p>
        </p:txBody>
      </p:sp>
      <p:sp>
        <p:nvSpPr>
          <p:cNvPr id="13" name="Shape 10"/>
          <p:cNvSpPr/>
          <p:nvPr/>
        </p:nvSpPr>
        <p:spPr>
          <a:xfrm>
            <a:off x="7418189" y="6146602"/>
            <a:ext cx="6491168" cy="1516499"/>
          </a:xfrm>
          <a:prstGeom prst="roundRect">
            <a:avLst>
              <a:gd name="adj" fmla="val 2038"/>
            </a:avLst>
          </a:prstGeom>
          <a:solidFill>
            <a:srgbClr val="433550"/>
          </a:solidFill>
          <a:ln/>
        </p:spPr>
      </p:sp>
      <p:sp>
        <p:nvSpPr>
          <p:cNvPr id="14" name="Text 11"/>
          <p:cNvSpPr/>
          <p:nvPr/>
        </p:nvSpPr>
        <p:spPr>
          <a:xfrm>
            <a:off x="7624167" y="6352580"/>
            <a:ext cx="2575322" cy="321826"/>
          </a:xfrm>
          <a:prstGeom prst="rect">
            <a:avLst/>
          </a:prstGeom>
          <a:noFill/>
          <a:ln/>
        </p:spPr>
        <p:txBody>
          <a:bodyPr wrap="none" lIns="0" tIns="0" rIns="0" bIns="0" rtlCol="0" anchor="t"/>
          <a:lstStyle/>
          <a:p>
            <a:pPr marL="0" indent="0" algn="l">
              <a:lnSpc>
                <a:spcPts val="2500"/>
              </a:lnSpc>
              <a:buNone/>
            </a:pPr>
            <a:r>
              <a:rPr lang="en-US" sz="2000" b="1" dirty="0">
                <a:solidFill>
                  <a:srgbClr val="DAD1E6"/>
                </a:solidFill>
                <a:latin typeface="Inconsolata Bold" pitchFamily="34" charset="0"/>
                <a:ea typeface="Inconsolata Bold" pitchFamily="34" charset="-122"/>
                <a:cs typeface="Inconsolata Bold" pitchFamily="34" charset="-120"/>
              </a:rPr>
              <a:t>Market Growth</a:t>
            </a:r>
            <a:endParaRPr lang="en-US" sz="2000" dirty="0"/>
          </a:p>
        </p:txBody>
      </p:sp>
      <p:sp>
        <p:nvSpPr>
          <p:cNvPr id="15" name="Text 12"/>
          <p:cNvSpPr/>
          <p:nvPr/>
        </p:nvSpPr>
        <p:spPr>
          <a:xfrm>
            <a:off x="7624167" y="6797993"/>
            <a:ext cx="6079212" cy="329565"/>
          </a:xfrm>
          <a:prstGeom prst="rect">
            <a:avLst/>
          </a:prstGeom>
          <a:noFill/>
          <a:ln/>
        </p:spPr>
        <p:txBody>
          <a:bodyPr wrap="none" lIns="0" tIns="0" rIns="0" bIns="0" rtlCol="0" anchor="t"/>
          <a:lstStyle/>
          <a:p>
            <a:pPr marL="0" indent="0" algn="l">
              <a:lnSpc>
                <a:spcPts val="2550"/>
              </a:lnSpc>
              <a:buNone/>
            </a:pPr>
            <a:r>
              <a:rPr lang="en-US" sz="1600" dirty="0">
                <a:solidFill>
                  <a:srgbClr val="DAD1E6"/>
                </a:solidFill>
                <a:latin typeface="Fira Sans" pitchFamily="34" charset="0"/>
                <a:ea typeface="Fira Sans" pitchFamily="34" charset="-122"/>
                <a:cs typeface="Fira Sans" pitchFamily="34" charset="-120"/>
              </a:rPr>
              <a:t>AI audio market expected to reach $15B by 2030.</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177058"/>
            <a:ext cx="7370683"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Our Deep Learning Solution</a:t>
            </a:r>
            <a:endParaRPr lang="en-US" sz="4450" dirty="0"/>
          </a:p>
        </p:txBody>
      </p:sp>
      <p:sp>
        <p:nvSpPr>
          <p:cNvPr id="3" name="Text 1"/>
          <p:cNvSpPr/>
          <p:nvPr/>
        </p:nvSpPr>
        <p:spPr>
          <a:xfrm>
            <a:off x="793790" y="345281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Data Sources</a:t>
            </a:r>
            <a:endParaRPr lang="en-US" sz="2200" dirty="0"/>
          </a:p>
        </p:txBody>
      </p:sp>
      <p:sp>
        <p:nvSpPr>
          <p:cNvPr id="4" name="Text 2"/>
          <p:cNvSpPr/>
          <p:nvPr/>
        </p:nvSpPr>
        <p:spPr>
          <a:xfrm>
            <a:off x="793790" y="4033957"/>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Streamed 4000 samples:2000 real from common_voice_11_0, 2,000 fake from wavefake-audio</a:t>
            </a:r>
            <a:endParaRPr lang="en-US" sz="1750" dirty="0"/>
          </a:p>
        </p:txBody>
      </p:sp>
      <p:sp>
        <p:nvSpPr>
          <p:cNvPr id="5" name="Text 3"/>
          <p:cNvSpPr/>
          <p:nvPr/>
        </p:nvSpPr>
        <p:spPr>
          <a:xfrm>
            <a:off x="4200406" y="345281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Modeling</a:t>
            </a:r>
            <a:endParaRPr lang="en-US" sz="2200" dirty="0"/>
          </a:p>
        </p:txBody>
      </p:sp>
      <p:sp>
        <p:nvSpPr>
          <p:cNvPr id="6" name="Text 4"/>
          <p:cNvSpPr/>
          <p:nvPr/>
        </p:nvSpPr>
        <p:spPr>
          <a:xfrm>
            <a:off x="4200406" y="4033957"/>
            <a:ext cx="2845594" cy="1814513"/>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Feature extraction using pre-trained Wav2Vec2ForSequenceClassification, fine-tuned for binary classification.</a:t>
            </a:r>
            <a:endParaRPr lang="en-US" sz="1750" dirty="0"/>
          </a:p>
        </p:txBody>
      </p:sp>
      <p:sp>
        <p:nvSpPr>
          <p:cNvPr id="7" name="Text 5"/>
          <p:cNvSpPr/>
          <p:nvPr/>
        </p:nvSpPr>
        <p:spPr>
          <a:xfrm>
            <a:off x="7607022" y="345281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Training</a:t>
            </a:r>
            <a:endParaRPr lang="en-US" sz="2200" dirty="0"/>
          </a:p>
        </p:txBody>
      </p:sp>
      <p:sp>
        <p:nvSpPr>
          <p:cNvPr id="8" name="Text 6"/>
          <p:cNvSpPr/>
          <p:nvPr/>
        </p:nvSpPr>
        <p:spPr>
          <a:xfrm>
            <a:off x="7607022" y="4033957"/>
            <a:ext cx="2845594" cy="72580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Neural network classifier to predict AI vs Real</a:t>
            </a:r>
            <a:endParaRPr lang="en-US" sz="1750" dirty="0"/>
          </a:p>
        </p:txBody>
      </p:sp>
      <p:sp>
        <p:nvSpPr>
          <p:cNvPr id="9" name="Text 7"/>
          <p:cNvSpPr/>
          <p:nvPr/>
        </p:nvSpPr>
        <p:spPr>
          <a:xfrm>
            <a:off x="11013638" y="345281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Inference</a:t>
            </a:r>
            <a:endParaRPr lang="en-US" sz="2200" dirty="0"/>
          </a:p>
        </p:txBody>
      </p:sp>
      <p:sp>
        <p:nvSpPr>
          <p:cNvPr id="10" name="Text 8"/>
          <p:cNvSpPr/>
          <p:nvPr/>
        </p:nvSpPr>
        <p:spPr>
          <a:xfrm>
            <a:off x="11013638" y="4033957"/>
            <a:ext cx="2845594" cy="72580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Supports any audio format via pydub and torchaudio.</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5982533" y="502682"/>
            <a:ext cx="5137785" cy="443032"/>
          </a:xfrm>
          <a:prstGeom prst="rect">
            <a:avLst/>
          </a:prstGeom>
          <a:noFill/>
          <a:ln/>
        </p:spPr>
        <p:txBody>
          <a:bodyPr wrap="none" lIns="0" tIns="0" rIns="0" bIns="0" rtlCol="0" anchor="t"/>
          <a:lstStyle/>
          <a:p>
            <a:pPr marL="0" indent="0" algn="l">
              <a:lnSpc>
                <a:spcPts val="3450"/>
              </a:lnSpc>
              <a:buNone/>
            </a:pPr>
            <a:r>
              <a:rPr lang="en-US" sz="2750" b="1" dirty="0">
                <a:solidFill>
                  <a:srgbClr val="F94CAF"/>
                </a:solidFill>
                <a:latin typeface="Inconsolata Bold" pitchFamily="34" charset="0"/>
                <a:ea typeface="Inconsolata Bold" pitchFamily="34" charset="-122"/>
                <a:cs typeface="Inconsolata Bold" pitchFamily="34" charset="-120"/>
              </a:rPr>
              <a:t>Classifier Workflow Explained</a:t>
            </a:r>
            <a:endParaRPr lang="en-US" sz="2750" dirty="0"/>
          </a:p>
        </p:txBody>
      </p:sp>
      <p:pic>
        <p:nvPicPr>
          <p:cNvPr id="4" name="Image 1" descr="preencoded.png"/>
          <p:cNvPicPr>
            <a:picLocks noChangeAspect="1"/>
          </p:cNvPicPr>
          <p:nvPr/>
        </p:nvPicPr>
        <p:blipFill>
          <a:blip r:embed="rId4"/>
          <a:stretch>
            <a:fillRect/>
          </a:stretch>
        </p:blipFill>
        <p:spPr>
          <a:xfrm>
            <a:off x="5982533" y="1158240"/>
            <a:ext cx="708779" cy="1404818"/>
          </a:xfrm>
          <a:prstGeom prst="rect">
            <a:avLst/>
          </a:prstGeom>
        </p:spPr>
      </p:pic>
      <p:sp>
        <p:nvSpPr>
          <p:cNvPr id="5" name="Text 1"/>
          <p:cNvSpPr/>
          <p:nvPr/>
        </p:nvSpPr>
        <p:spPr>
          <a:xfrm>
            <a:off x="6903839" y="1299924"/>
            <a:ext cx="2569012" cy="221456"/>
          </a:xfrm>
          <a:prstGeom prst="rect">
            <a:avLst/>
          </a:prstGeom>
          <a:noFill/>
          <a:ln/>
        </p:spPr>
        <p:txBody>
          <a:bodyPr wrap="none" lIns="0" tIns="0" rIns="0" bIns="0" rtlCol="0" anchor="t"/>
          <a:lstStyle/>
          <a:p>
            <a:pPr marL="0" indent="0" algn="l">
              <a:lnSpc>
                <a:spcPts val="1700"/>
              </a:lnSpc>
              <a:buNone/>
            </a:pPr>
            <a:r>
              <a:rPr lang="en-US" sz="1350" b="1" dirty="0">
                <a:solidFill>
                  <a:srgbClr val="DAD1E6"/>
                </a:solidFill>
                <a:latin typeface="Inconsolata Bold" pitchFamily="34" charset="0"/>
                <a:ea typeface="Inconsolata Bold" pitchFamily="34" charset="-122"/>
                <a:cs typeface="Inconsolata Bold" pitchFamily="34" charset="-120"/>
              </a:rPr>
              <a:t>Data Loading and interleaving</a:t>
            </a:r>
            <a:endParaRPr lang="en-US" sz="1350" dirty="0"/>
          </a:p>
        </p:txBody>
      </p:sp>
      <p:sp>
        <p:nvSpPr>
          <p:cNvPr id="6" name="Text 2"/>
          <p:cNvSpPr/>
          <p:nvPr/>
        </p:nvSpPr>
        <p:spPr>
          <a:xfrm>
            <a:off x="6903839" y="1606391"/>
            <a:ext cx="7230428" cy="226814"/>
          </a:xfrm>
          <a:prstGeom prst="rect">
            <a:avLst/>
          </a:prstGeom>
          <a:noFill/>
          <a:ln/>
        </p:spPr>
        <p:txBody>
          <a:bodyPr wrap="none" lIns="0" tIns="0" rIns="0" bIns="0" rtlCol="0" anchor="t"/>
          <a:lstStyle/>
          <a:p>
            <a:pPr marL="0" indent="0" algn="l">
              <a:lnSpc>
                <a:spcPts val="1750"/>
              </a:lnSpc>
              <a:buNone/>
            </a:pPr>
            <a:r>
              <a:rPr lang="en-US" sz="1100" dirty="0">
                <a:solidFill>
                  <a:srgbClr val="DAD1E6"/>
                </a:solidFill>
                <a:latin typeface="Fira Sans" pitchFamily="34" charset="0"/>
                <a:ea typeface="Fira Sans" pitchFamily="34" charset="-122"/>
                <a:cs typeface="Fira Sans" pitchFamily="34" charset="-120"/>
              </a:rPr>
              <a:t>Load and preprocess both real and AI audio samples.</a:t>
            </a:r>
            <a:endParaRPr lang="en-US" sz="1100" dirty="0"/>
          </a:p>
        </p:txBody>
      </p:sp>
      <p:sp>
        <p:nvSpPr>
          <p:cNvPr id="7" name="Text 3"/>
          <p:cNvSpPr/>
          <p:nvPr/>
        </p:nvSpPr>
        <p:spPr>
          <a:xfrm>
            <a:off x="6903839" y="1918216"/>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Combine real and AI audio into a single dataset of 4,000 samples using interleave_datasets.</a:t>
            </a:r>
            <a:endParaRPr lang="en-US" sz="1100" dirty="0"/>
          </a:p>
        </p:txBody>
      </p:sp>
      <p:sp>
        <p:nvSpPr>
          <p:cNvPr id="8" name="Text 4"/>
          <p:cNvSpPr/>
          <p:nvPr/>
        </p:nvSpPr>
        <p:spPr>
          <a:xfrm>
            <a:off x="6903839" y="2194560"/>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Shuffle with a buffer size of 500 to ensure randomness.</a:t>
            </a:r>
            <a:endParaRPr lang="en-US" sz="1100" dirty="0"/>
          </a:p>
        </p:txBody>
      </p:sp>
      <p:pic>
        <p:nvPicPr>
          <p:cNvPr id="9" name="Image 2" descr="preencoded.png"/>
          <p:cNvPicPr>
            <a:picLocks noChangeAspect="1"/>
          </p:cNvPicPr>
          <p:nvPr/>
        </p:nvPicPr>
        <p:blipFill>
          <a:blip r:embed="rId5"/>
          <a:stretch>
            <a:fillRect/>
          </a:stretch>
        </p:blipFill>
        <p:spPr>
          <a:xfrm>
            <a:off x="5982533" y="2563058"/>
            <a:ext cx="708779" cy="1092994"/>
          </a:xfrm>
          <a:prstGeom prst="rect">
            <a:avLst/>
          </a:prstGeom>
        </p:spPr>
      </p:pic>
      <p:sp>
        <p:nvSpPr>
          <p:cNvPr id="10" name="Text 5"/>
          <p:cNvSpPr/>
          <p:nvPr/>
        </p:nvSpPr>
        <p:spPr>
          <a:xfrm>
            <a:off x="6903839" y="2704743"/>
            <a:ext cx="1772007" cy="221456"/>
          </a:xfrm>
          <a:prstGeom prst="rect">
            <a:avLst/>
          </a:prstGeom>
          <a:noFill/>
          <a:ln/>
        </p:spPr>
        <p:txBody>
          <a:bodyPr wrap="none" lIns="0" tIns="0" rIns="0" bIns="0" rtlCol="0" anchor="t"/>
          <a:lstStyle/>
          <a:p>
            <a:pPr marL="0" indent="0" algn="l">
              <a:lnSpc>
                <a:spcPts val="1700"/>
              </a:lnSpc>
              <a:buNone/>
            </a:pPr>
            <a:r>
              <a:rPr lang="en-US" sz="1350" b="1" dirty="0">
                <a:solidFill>
                  <a:srgbClr val="DAD1E6"/>
                </a:solidFill>
                <a:latin typeface="Inconsolata Bold" pitchFamily="34" charset="0"/>
                <a:ea typeface="Inconsolata Bold" pitchFamily="34" charset="-122"/>
                <a:cs typeface="Inconsolata Bold" pitchFamily="34" charset="-120"/>
              </a:rPr>
              <a:t>Feature Extraction</a:t>
            </a:r>
            <a:endParaRPr lang="en-US" sz="1350" dirty="0"/>
          </a:p>
        </p:txBody>
      </p:sp>
      <p:sp>
        <p:nvSpPr>
          <p:cNvPr id="11" name="Text 6"/>
          <p:cNvSpPr/>
          <p:nvPr/>
        </p:nvSpPr>
        <p:spPr>
          <a:xfrm>
            <a:off x="6903839" y="3011210"/>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Use Wav2Vec2FeatureExtractor (from transformers) to convert raw audio waveforms into input features.</a:t>
            </a:r>
            <a:endParaRPr lang="en-US" sz="1100" dirty="0"/>
          </a:p>
        </p:txBody>
      </p:sp>
      <p:sp>
        <p:nvSpPr>
          <p:cNvPr id="12" name="Text 7"/>
          <p:cNvSpPr/>
          <p:nvPr/>
        </p:nvSpPr>
        <p:spPr>
          <a:xfrm>
            <a:off x="6903839" y="3287554"/>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Parameters: Sampling rate = 16kHz, padding to max length, return attention mask.</a:t>
            </a:r>
            <a:endParaRPr lang="en-US" sz="1100" dirty="0"/>
          </a:p>
        </p:txBody>
      </p:sp>
      <p:pic>
        <p:nvPicPr>
          <p:cNvPr id="13" name="Image 3" descr="preencoded.png"/>
          <p:cNvPicPr>
            <a:picLocks noChangeAspect="1"/>
          </p:cNvPicPr>
          <p:nvPr/>
        </p:nvPicPr>
        <p:blipFill>
          <a:blip r:embed="rId6"/>
          <a:stretch>
            <a:fillRect/>
          </a:stretch>
        </p:blipFill>
        <p:spPr>
          <a:xfrm>
            <a:off x="5982533" y="3656052"/>
            <a:ext cx="708779" cy="1872496"/>
          </a:xfrm>
          <a:prstGeom prst="rect">
            <a:avLst/>
          </a:prstGeom>
        </p:spPr>
      </p:pic>
      <p:sp>
        <p:nvSpPr>
          <p:cNvPr id="14" name="Text 8"/>
          <p:cNvSpPr/>
          <p:nvPr/>
        </p:nvSpPr>
        <p:spPr>
          <a:xfrm>
            <a:off x="6903839" y="3797737"/>
            <a:ext cx="1772007" cy="221456"/>
          </a:xfrm>
          <a:prstGeom prst="rect">
            <a:avLst/>
          </a:prstGeom>
          <a:noFill/>
          <a:ln/>
        </p:spPr>
        <p:txBody>
          <a:bodyPr wrap="none" lIns="0" tIns="0" rIns="0" bIns="0" rtlCol="0" anchor="t"/>
          <a:lstStyle/>
          <a:p>
            <a:pPr marL="0" indent="0" algn="l">
              <a:lnSpc>
                <a:spcPts val="1700"/>
              </a:lnSpc>
              <a:buNone/>
            </a:pPr>
            <a:r>
              <a:rPr lang="en-US" sz="1350" b="1" dirty="0">
                <a:solidFill>
                  <a:srgbClr val="DAD1E6"/>
                </a:solidFill>
                <a:latin typeface="Inconsolata Bold" pitchFamily="34" charset="0"/>
                <a:ea typeface="Inconsolata Bold" pitchFamily="34" charset="-122"/>
                <a:cs typeface="Inconsolata Bold" pitchFamily="34" charset="-120"/>
              </a:rPr>
              <a:t>Model initialisation</a:t>
            </a:r>
            <a:endParaRPr lang="en-US" sz="1350" dirty="0"/>
          </a:p>
        </p:txBody>
      </p:sp>
      <p:sp>
        <p:nvSpPr>
          <p:cNvPr id="15" name="Text 9"/>
          <p:cNvSpPr/>
          <p:nvPr/>
        </p:nvSpPr>
        <p:spPr>
          <a:xfrm>
            <a:off x="6903839" y="4104203"/>
            <a:ext cx="7230428" cy="453628"/>
          </a:xfrm>
          <a:prstGeom prst="rect">
            <a:avLst/>
          </a:prstGeom>
          <a:noFill/>
          <a:ln/>
        </p:spPr>
        <p:txBody>
          <a:bodyPr wrap="square" lIns="0" tIns="0" rIns="0" bIns="0" rtlCol="0" anchor="t"/>
          <a:lstStyle/>
          <a:p>
            <a:pPr marL="342900" indent="-342900" algn="l">
              <a:lnSpc>
                <a:spcPts val="1750"/>
              </a:lnSpc>
              <a:buSzPct val="100000"/>
              <a:buChar char="•"/>
            </a:pPr>
            <a:r>
              <a:rPr lang="en-US" sz="1100" b="1" dirty="0">
                <a:solidFill>
                  <a:srgbClr val="DAD1E6"/>
                </a:solidFill>
                <a:latin typeface="Fira Sans" pitchFamily="34" charset="0"/>
                <a:ea typeface="Fira Sans" pitchFamily="34" charset="-122"/>
                <a:cs typeface="Fira Sans" pitchFamily="34" charset="-120"/>
              </a:rPr>
              <a:t>Model</a:t>
            </a:r>
            <a:r>
              <a:rPr lang="en-US" sz="1100" dirty="0">
                <a:solidFill>
                  <a:srgbClr val="DAD1E6"/>
                </a:solidFill>
                <a:latin typeface="Fira Sans" pitchFamily="34" charset="0"/>
                <a:ea typeface="Fira Sans" pitchFamily="34" charset="-122"/>
                <a:cs typeface="Fira Sans" pitchFamily="34" charset="-120"/>
              </a:rPr>
              <a:t>: facebook/wav2vec2-base (pretrained, 94M parameters) with Wav2Vec2ForSequenceClassification head.</a:t>
            </a:r>
            <a:endParaRPr lang="en-US" sz="1100" dirty="0"/>
          </a:p>
        </p:txBody>
      </p:sp>
      <p:sp>
        <p:nvSpPr>
          <p:cNvPr id="16" name="Text 10"/>
          <p:cNvSpPr/>
          <p:nvPr/>
        </p:nvSpPr>
        <p:spPr>
          <a:xfrm>
            <a:off x="6903839" y="4607362"/>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b="1" dirty="0">
                <a:solidFill>
                  <a:srgbClr val="DAD1E6"/>
                </a:solidFill>
                <a:latin typeface="Fira Sans" pitchFamily="34" charset="0"/>
                <a:ea typeface="Fira Sans" pitchFamily="34" charset="-122"/>
                <a:cs typeface="Fira Sans" pitchFamily="34" charset="-120"/>
              </a:rPr>
              <a:t>Configuration</a:t>
            </a:r>
            <a:r>
              <a:rPr lang="en-US" sz="1100" dirty="0">
                <a:solidFill>
                  <a:srgbClr val="DAD1E6"/>
                </a:solidFill>
                <a:latin typeface="Fira Sans" pitchFamily="34" charset="0"/>
                <a:ea typeface="Fira Sans" pitchFamily="34" charset="-122"/>
                <a:cs typeface="Fira Sans" pitchFamily="34" charset="-120"/>
              </a:rPr>
              <a:t>:</a:t>
            </a:r>
            <a:endParaRPr lang="en-US" sz="1100" dirty="0"/>
          </a:p>
        </p:txBody>
      </p:sp>
      <p:sp>
        <p:nvSpPr>
          <p:cNvPr id="17" name="Text 11"/>
          <p:cNvSpPr/>
          <p:nvPr/>
        </p:nvSpPr>
        <p:spPr>
          <a:xfrm>
            <a:off x="6903839" y="4883706"/>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Binary classification (2 labels: real, AI).</a:t>
            </a:r>
            <a:endParaRPr lang="en-US" sz="1100" dirty="0"/>
          </a:p>
        </p:txBody>
      </p:sp>
      <p:sp>
        <p:nvSpPr>
          <p:cNvPr id="18" name="Text 12"/>
          <p:cNvSpPr/>
          <p:nvPr/>
        </p:nvSpPr>
        <p:spPr>
          <a:xfrm>
            <a:off x="6903839" y="5160050"/>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Output: Logits for each class, converted to probabilities via softmax.</a:t>
            </a:r>
            <a:endParaRPr lang="en-US" sz="1100" dirty="0"/>
          </a:p>
        </p:txBody>
      </p:sp>
      <p:pic>
        <p:nvPicPr>
          <p:cNvPr id="19" name="Image 4" descr="preencoded.png"/>
          <p:cNvPicPr>
            <a:picLocks noChangeAspect="1"/>
          </p:cNvPicPr>
          <p:nvPr/>
        </p:nvPicPr>
        <p:blipFill>
          <a:blip r:embed="rId7"/>
          <a:stretch>
            <a:fillRect/>
          </a:stretch>
        </p:blipFill>
        <p:spPr>
          <a:xfrm>
            <a:off x="5982533" y="5528548"/>
            <a:ext cx="708779" cy="2198370"/>
          </a:xfrm>
          <a:prstGeom prst="rect">
            <a:avLst/>
          </a:prstGeom>
        </p:spPr>
      </p:pic>
      <p:sp>
        <p:nvSpPr>
          <p:cNvPr id="20" name="Text 13"/>
          <p:cNvSpPr/>
          <p:nvPr/>
        </p:nvSpPr>
        <p:spPr>
          <a:xfrm>
            <a:off x="6903839" y="5670233"/>
            <a:ext cx="1772007" cy="221456"/>
          </a:xfrm>
          <a:prstGeom prst="rect">
            <a:avLst/>
          </a:prstGeom>
          <a:noFill/>
          <a:ln/>
        </p:spPr>
        <p:txBody>
          <a:bodyPr wrap="none" lIns="0" tIns="0" rIns="0" bIns="0" rtlCol="0" anchor="t"/>
          <a:lstStyle/>
          <a:p>
            <a:pPr marL="0" indent="0" algn="l">
              <a:lnSpc>
                <a:spcPts val="1700"/>
              </a:lnSpc>
              <a:buNone/>
            </a:pPr>
            <a:r>
              <a:rPr lang="en-US" sz="1350" b="1" dirty="0">
                <a:solidFill>
                  <a:srgbClr val="DAD1E6"/>
                </a:solidFill>
                <a:latin typeface="Inconsolata Bold" pitchFamily="34" charset="0"/>
                <a:ea typeface="Inconsolata Bold" pitchFamily="34" charset="-122"/>
                <a:cs typeface="Inconsolata Bold" pitchFamily="34" charset="-120"/>
              </a:rPr>
              <a:t>Training</a:t>
            </a:r>
            <a:endParaRPr lang="en-US" sz="1350" dirty="0"/>
          </a:p>
        </p:txBody>
      </p:sp>
      <p:sp>
        <p:nvSpPr>
          <p:cNvPr id="21" name="Text 14"/>
          <p:cNvSpPr/>
          <p:nvPr/>
        </p:nvSpPr>
        <p:spPr>
          <a:xfrm>
            <a:off x="6903839" y="5976699"/>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Batch size: 4 (per device, T4 GPU).</a:t>
            </a:r>
            <a:endParaRPr lang="en-US" sz="1100" dirty="0"/>
          </a:p>
        </p:txBody>
      </p:sp>
      <p:sp>
        <p:nvSpPr>
          <p:cNvPr id="22" name="Text 15"/>
          <p:cNvSpPr/>
          <p:nvPr/>
        </p:nvSpPr>
        <p:spPr>
          <a:xfrm>
            <a:off x="6903839" y="6253043"/>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Learning rate: 1e-5.</a:t>
            </a:r>
            <a:endParaRPr lang="en-US" sz="1100" dirty="0"/>
          </a:p>
        </p:txBody>
      </p:sp>
      <p:sp>
        <p:nvSpPr>
          <p:cNvPr id="23" name="Text 16"/>
          <p:cNvSpPr/>
          <p:nvPr/>
        </p:nvSpPr>
        <p:spPr>
          <a:xfrm>
            <a:off x="6903839" y="6529387"/>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Epochs: 2.33 (2,400 steps total).</a:t>
            </a:r>
            <a:endParaRPr lang="en-US" sz="1100" dirty="0"/>
          </a:p>
        </p:txBody>
      </p:sp>
      <p:sp>
        <p:nvSpPr>
          <p:cNvPr id="24" name="Text 17"/>
          <p:cNvSpPr/>
          <p:nvPr/>
        </p:nvSpPr>
        <p:spPr>
          <a:xfrm>
            <a:off x="6903839" y="6805732"/>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Optimizer: AdamW (default in transformers).</a:t>
            </a:r>
            <a:endParaRPr lang="en-US" sz="1100" dirty="0"/>
          </a:p>
        </p:txBody>
      </p:sp>
      <p:sp>
        <p:nvSpPr>
          <p:cNvPr id="25" name="Text 18"/>
          <p:cNvSpPr/>
          <p:nvPr/>
        </p:nvSpPr>
        <p:spPr>
          <a:xfrm>
            <a:off x="6903839" y="7082076"/>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Save checkpoints in wav2vec2-audio-clf directory.</a:t>
            </a:r>
            <a:endParaRPr lang="en-US" sz="1100" dirty="0"/>
          </a:p>
        </p:txBody>
      </p:sp>
      <p:sp>
        <p:nvSpPr>
          <p:cNvPr id="26" name="Text 19"/>
          <p:cNvSpPr/>
          <p:nvPr/>
        </p:nvSpPr>
        <p:spPr>
          <a:xfrm>
            <a:off x="6903839" y="7358420"/>
            <a:ext cx="7230428" cy="226814"/>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DAD1E6"/>
                </a:solidFill>
                <a:latin typeface="Fira Sans" pitchFamily="34" charset="0"/>
                <a:ea typeface="Fira Sans" pitchFamily="34" charset="-122"/>
                <a:cs typeface="Fira Sans" pitchFamily="34" charset="-120"/>
              </a:rPr>
              <a:t>Limit to 2 checkpoints to manage disk (~380MB per checkpoint, ~760MB total).</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690616" y="209669"/>
            <a:ext cx="4393168" cy="7810262"/>
          </a:xfrm>
          <a:prstGeom prst="rect">
            <a:avLst/>
          </a:prstGeom>
        </p:spPr>
      </p:pic>
      <p:sp>
        <p:nvSpPr>
          <p:cNvPr id="4" name="Text 0"/>
          <p:cNvSpPr/>
          <p:nvPr/>
        </p:nvSpPr>
        <p:spPr>
          <a:xfrm>
            <a:off x="587097" y="462558"/>
            <a:ext cx="5030629" cy="524113"/>
          </a:xfrm>
          <a:prstGeom prst="rect">
            <a:avLst/>
          </a:prstGeom>
          <a:noFill/>
          <a:ln/>
        </p:spPr>
        <p:txBody>
          <a:bodyPr wrap="none" lIns="0" tIns="0" rIns="0" bIns="0" rtlCol="0" anchor="t"/>
          <a:lstStyle/>
          <a:p>
            <a:pPr marL="0" indent="0" algn="l">
              <a:lnSpc>
                <a:spcPts val="4100"/>
              </a:lnSpc>
              <a:buNone/>
            </a:pPr>
            <a:r>
              <a:rPr lang="en-US" sz="3300" b="1" dirty="0">
                <a:solidFill>
                  <a:srgbClr val="F94CAF"/>
                </a:solidFill>
                <a:latin typeface="Inconsolata Bold" pitchFamily="34" charset="0"/>
                <a:ea typeface="Inconsolata Bold" pitchFamily="34" charset="-122"/>
                <a:cs typeface="Inconsolata Bold" pitchFamily="34" charset="-120"/>
              </a:rPr>
              <a:t>Results and achievements</a:t>
            </a:r>
            <a:endParaRPr lang="en-US" sz="3300" dirty="0"/>
          </a:p>
        </p:txBody>
      </p:sp>
      <p:sp>
        <p:nvSpPr>
          <p:cNvPr id="5" name="Text 1"/>
          <p:cNvSpPr/>
          <p:nvPr/>
        </p:nvSpPr>
        <p:spPr>
          <a:xfrm>
            <a:off x="1753195" y="2055971"/>
            <a:ext cx="1526738" cy="310277"/>
          </a:xfrm>
          <a:prstGeom prst="rect">
            <a:avLst/>
          </a:prstGeom>
          <a:noFill/>
          <a:ln/>
        </p:spPr>
        <p:txBody>
          <a:bodyPr wrap="none" lIns="0" tIns="0" rIns="0" bIns="0" rtlCol="0" anchor="t"/>
          <a:lstStyle/>
          <a:p>
            <a:pPr marL="0" indent="0" algn="ctr">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100</a:t>
            </a:r>
            <a:endParaRPr lang="en-US" sz="2400" dirty="0"/>
          </a:p>
        </p:txBody>
      </p:sp>
      <p:pic>
        <p:nvPicPr>
          <p:cNvPr id="6" name="Image 2" descr="preencoded.png"/>
          <p:cNvPicPr>
            <a:picLocks noChangeAspect="1"/>
          </p:cNvPicPr>
          <p:nvPr/>
        </p:nvPicPr>
        <p:blipFill>
          <a:blip r:embed="rId5"/>
          <a:stretch>
            <a:fillRect/>
          </a:stretch>
        </p:blipFill>
        <p:spPr>
          <a:xfrm>
            <a:off x="1585674" y="1280160"/>
            <a:ext cx="1861899" cy="1861899"/>
          </a:xfrm>
          <a:prstGeom prst="rect">
            <a:avLst/>
          </a:prstGeom>
        </p:spPr>
      </p:pic>
      <p:sp>
        <p:nvSpPr>
          <p:cNvPr id="7" name="Text 2"/>
          <p:cNvSpPr/>
          <p:nvPr/>
        </p:nvSpPr>
        <p:spPr>
          <a:xfrm>
            <a:off x="1468279" y="3351609"/>
            <a:ext cx="2096691" cy="262057"/>
          </a:xfrm>
          <a:prstGeom prst="rect">
            <a:avLst/>
          </a:prstGeom>
          <a:noFill/>
          <a:ln/>
        </p:spPr>
        <p:txBody>
          <a:bodyPr wrap="none" lIns="0" tIns="0" rIns="0" bIns="0" rtlCol="0" anchor="t"/>
          <a:lstStyle/>
          <a:p>
            <a:pPr marL="0" indent="0" algn="ctr">
              <a:lnSpc>
                <a:spcPts val="2050"/>
              </a:lnSpc>
              <a:buNone/>
            </a:pPr>
            <a:r>
              <a:rPr lang="en-US" sz="1650" b="1" dirty="0">
                <a:solidFill>
                  <a:srgbClr val="DAD1E6"/>
                </a:solidFill>
                <a:latin typeface="Inconsolata Bold" pitchFamily="34" charset="0"/>
                <a:ea typeface="Inconsolata Bold" pitchFamily="34" charset="-122"/>
                <a:cs typeface="Inconsolata Bold" pitchFamily="34" charset="-120"/>
              </a:rPr>
              <a:t>Evaluation Metrics: </a:t>
            </a:r>
            <a:endParaRPr lang="en-US" sz="1650" dirty="0"/>
          </a:p>
        </p:txBody>
      </p:sp>
      <p:sp>
        <p:nvSpPr>
          <p:cNvPr id="8" name="Text 3"/>
          <p:cNvSpPr/>
          <p:nvPr/>
        </p:nvSpPr>
        <p:spPr>
          <a:xfrm>
            <a:off x="587097" y="3714274"/>
            <a:ext cx="3859054" cy="536734"/>
          </a:xfrm>
          <a:prstGeom prst="rect">
            <a:avLst/>
          </a:prstGeom>
          <a:noFill/>
          <a:ln/>
        </p:spPr>
        <p:txBody>
          <a:bodyPr wrap="square" lIns="0" tIns="0" rIns="0" bIns="0" rtlCol="0" anchor="t"/>
          <a:lstStyle/>
          <a:p>
            <a:pPr marL="0" indent="0" algn="ctr">
              <a:lnSpc>
                <a:spcPts val="2100"/>
              </a:lnSpc>
              <a:buNone/>
            </a:pPr>
            <a:r>
              <a:rPr lang="en-US" sz="1300" dirty="0">
                <a:solidFill>
                  <a:srgbClr val="DAD1E6"/>
                </a:solidFill>
                <a:latin typeface="Fira Sans" pitchFamily="34" charset="0"/>
                <a:ea typeface="Fira Sans" pitchFamily="34" charset="-122"/>
                <a:cs typeface="Fira Sans" pitchFamily="34" charset="-120"/>
              </a:rPr>
              <a:t>Accuracy: 1.0, Precision: 1.0, Recall: 1.0, F1: 1.0 (eval set, 800 samples).</a:t>
            </a:r>
            <a:endParaRPr lang="en-US" sz="1300" dirty="0"/>
          </a:p>
        </p:txBody>
      </p:sp>
      <p:sp>
        <p:nvSpPr>
          <p:cNvPr id="9" name="Text 4"/>
          <p:cNvSpPr/>
          <p:nvPr/>
        </p:nvSpPr>
        <p:spPr>
          <a:xfrm>
            <a:off x="5863828" y="2055971"/>
            <a:ext cx="1526738" cy="310277"/>
          </a:xfrm>
          <a:prstGeom prst="rect">
            <a:avLst/>
          </a:prstGeom>
          <a:noFill/>
          <a:ln/>
        </p:spPr>
        <p:txBody>
          <a:bodyPr wrap="none" lIns="0" tIns="0" rIns="0" bIns="0" rtlCol="0" anchor="t"/>
          <a:lstStyle/>
          <a:p>
            <a:pPr marL="0" indent="0" algn="ctr">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100</a:t>
            </a:r>
            <a:endParaRPr lang="en-US" sz="2400" dirty="0"/>
          </a:p>
        </p:txBody>
      </p:sp>
      <p:pic>
        <p:nvPicPr>
          <p:cNvPr id="10" name="Image 3" descr="preencoded.png"/>
          <p:cNvPicPr>
            <a:picLocks noChangeAspect="1"/>
          </p:cNvPicPr>
          <p:nvPr/>
        </p:nvPicPr>
        <p:blipFill>
          <a:blip r:embed="rId5"/>
          <a:stretch>
            <a:fillRect/>
          </a:stretch>
        </p:blipFill>
        <p:spPr>
          <a:xfrm>
            <a:off x="5696307" y="1280160"/>
            <a:ext cx="1861899" cy="1861899"/>
          </a:xfrm>
          <a:prstGeom prst="rect">
            <a:avLst/>
          </a:prstGeom>
        </p:spPr>
      </p:pic>
      <p:sp>
        <p:nvSpPr>
          <p:cNvPr id="11" name="Text 5"/>
          <p:cNvSpPr/>
          <p:nvPr/>
        </p:nvSpPr>
        <p:spPr>
          <a:xfrm>
            <a:off x="5578912" y="3351609"/>
            <a:ext cx="2096691" cy="262057"/>
          </a:xfrm>
          <a:prstGeom prst="rect">
            <a:avLst/>
          </a:prstGeom>
          <a:noFill/>
          <a:ln/>
        </p:spPr>
        <p:txBody>
          <a:bodyPr wrap="none" lIns="0" tIns="0" rIns="0" bIns="0" rtlCol="0" anchor="t"/>
          <a:lstStyle/>
          <a:p>
            <a:pPr marL="0" indent="0" algn="ctr">
              <a:lnSpc>
                <a:spcPts val="2050"/>
              </a:lnSpc>
              <a:buNone/>
            </a:pPr>
            <a:r>
              <a:rPr lang="en-US" sz="1650" b="1" dirty="0">
                <a:solidFill>
                  <a:srgbClr val="DAD1E6"/>
                </a:solidFill>
                <a:latin typeface="Inconsolata Bold" pitchFamily="34" charset="0"/>
                <a:ea typeface="Inconsolata Bold" pitchFamily="34" charset="-122"/>
                <a:cs typeface="Inconsolata Bold" pitchFamily="34" charset="-120"/>
              </a:rPr>
              <a:t>Confusion Matrix: </a:t>
            </a:r>
            <a:endParaRPr lang="en-US" sz="1650" dirty="0"/>
          </a:p>
        </p:txBody>
      </p:sp>
      <p:sp>
        <p:nvSpPr>
          <p:cNvPr id="12" name="Text 6"/>
          <p:cNvSpPr/>
          <p:nvPr/>
        </p:nvSpPr>
        <p:spPr>
          <a:xfrm>
            <a:off x="4697730" y="3714274"/>
            <a:ext cx="3859173" cy="268367"/>
          </a:xfrm>
          <a:prstGeom prst="rect">
            <a:avLst/>
          </a:prstGeom>
          <a:noFill/>
          <a:ln/>
        </p:spPr>
        <p:txBody>
          <a:bodyPr wrap="none" lIns="0" tIns="0" rIns="0" bIns="0" rtlCol="0" anchor="t"/>
          <a:lstStyle/>
          <a:p>
            <a:pPr marL="0" indent="0" algn="ctr">
              <a:lnSpc>
                <a:spcPts val="2100"/>
              </a:lnSpc>
              <a:buNone/>
            </a:pPr>
            <a:r>
              <a:rPr lang="en-US" sz="1300" dirty="0">
                <a:solidFill>
                  <a:srgbClr val="DAD1E6"/>
                </a:solidFill>
                <a:latin typeface="Fira Sans" pitchFamily="34" charset="0"/>
                <a:ea typeface="Fira Sans" pitchFamily="34" charset="-122"/>
                <a:cs typeface="Fira Sans" pitchFamily="34" charset="-120"/>
              </a:rPr>
              <a:t>[[402, 0], [0, 398]] (no errors on eval set).</a:t>
            </a:r>
            <a:endParaRPr lang="en-US" sz="1300" dirty="0"/>
          </a:p>
        </p:txBody>
      </p:sp>
      <p:sp>
        <p:nvSpPr>
          <p:cNvPr id="13" name="Text 7"/>
          <p:cNvSpPr/>
          <p:nvPr/>
        </p:nvSpPr>
        <p:spPr>
          <a:xfrm>
            <a:off x="3808452" y="5571887"/>
            <a:ext cx="1526738" cy="310277"/>
          </a:xfrm>
          <a:prstGeom prst="rect">
            <a:avLst/>
          </a:prstGeom>
          <a:noFill/>
          <a:ln/>
        </p:spPr>
        <p:txBody>
          <a:bodyPr wrap="none" lIns="0" tIns="0" rIns="0" bIns="0" rtlCol="0" anchor="t"/>
          <a:lstStyle/>
          <a:p>
            <a:pPr marL="0" indent="0" algn="ctr">
              <a:lnSpc>
                <a:spcPts val="2400"/>
              </a:lnSpc>
              <a:buNone/>
            </a:pPr>
            <a:r>
              <a:rPr lang="en-US" sz="2400" b="1" dirty="0">
                <a:solidFill>
                  <a:srgbClr val="DAD1E6"/>
                </a:solidFill>
                <a:latin typeface="Inconsolata Bold" pitchFamily="34" charset="0"/>
                <a:ea typeface="Inconsolata Bold" pitchFamily="34" charset="-122"/>
                <a:cs typeface="Inconsolata Bold" pitchFamily="34" charset="-120"/>
              </a:rPr>
              <a:t>0.0006</a:t>
            </a:r>
            <a:endParaRPr lang="en-US" sz="2400" dirty="0"/>
          </a:p>
        </p:txBody>
      </p:sp>
      <p:pic>
        <p:nvPicPr>
          <p:cNvPr id="14" name="Image 4" descr="preencoded.png"/>
          <p:cNvPicPr>
            <a:picLocks noChangeAspect="1"/>
          </p:cNvPicPr>
          <p:nvPr/>
        </p:nvPicPr>
        <p:blipFill>
          <a:blip r:embed="rId6"/>
          <a:stretch>
            <a:fillRect/>
          </a:stretch>
        </p:blipFill>
        <p:spPr>
          <a:xfrm>
            <a:off x="3640931" y="4796076"/>
            <a:ext cx="1861899" cy="1861899"/>
          </a:xfrm>
          <a:prstGeom prst="rect">
            <a:avLst/>
          </a:prstGeom>
        </p:spPr>
      </p:pic>
      <p:sp>
        <p:nvSpPr>
          <p:cNvPr id="15" name="Text 8"/>
          <p:cNvSpPr/>
          <p:nvPr/>
        </p:nvSpPr>
        <p:spPr>
          <a:xfrm>
            <a:off x="3523536" y="6867525"/>
            <a:ext cx="2096691" cy="262057"/>
          </a:xfrm>
          <a:prstGeom prst="rect">
            <a:avLst/>
          </a:prstGeom>
          <a:noFill/>
          <a:ln/>
        </p:spPr>
        <p:txBody>
          <a:bodyPr wrap="none" lIns="0" tIns="0" rIns="0" bIns="0" rtlCol="0" anchor="t"/>
          <a:lstStyle/>
          <a:p>
            <a:pPr marL="0" indent="0" algn="ctr">
              <a:lnSpc>
                <a:spcPts val="2050"/>
              </a:lnSpc>
              <a:buNone/>
            </a:pPr>
            <a:r>
              <a:rPr lang="en-US" sz="1650" b="1" dirty="0">
                <a:solidFill>
                  <a:srgbClr val="DAD1E6"/>
                </a:solidFill>
                <a:latin typeface="Inconsolata Bold" pitchFamily="34" charset="0"/>
                <a:ea typeface="Inconsolata Bold" pitchFamily="34" charset="-122"/>
                <a:cs typeface="Inconsolata Bold" pitchFamily="34" charset="-120"/>
              </a:rPr>
              <a:t>Training Loss: </a:t>
            </a:r>
            <a:endParaRPr lang="en-US" sz="1650" dirty="0"/>
          </a:p>
        </p:txBody>
      </p:sp>
      <p:sp>
        <p:nvSpPr>
          <p:cNvPr id="16" name="Text 9"/>
          <p:cNvSpPr/>
          <p:nvPr/>
        </p:nvSpPr>
        <p:spPr>
          <a:xfrm>
            <a:off x="2642354" y="7230189"/>
            <a:ext cx="3859173" cy="536734"/>
          </a:xfrm>
          <a:prstGeom prst="rect">
            <a:avLst/>
          </a:prstGeom>
          <a:noFill/>
          <a:ln/>
        </p:spPr>
        <p:txBody>
          <a:bodyPr wrap="square" lIns="0" tIns="0" rIns="0" bIns="0" rtlCol="0" anchor="t"/>
          <a:lstStyle/>
          <a:p>
            <a:pPr marL="0" indent="0" algn="ctr">
              <a:lnSpc>
                <a:spcPts val="2100"/>
              </a:lnSpc>
              <a:buNone/>
            </a:pPr>
            <a:r>
              <a:rPr lang="en-US" sz="1300" dirty="0">
                <a:solidFill>
                  <a:srgbClr val="DAD1E6"/>
                </a:solidFill>
                <a:latin typeface="Fira Sans" pitchFamily="34" charset="0"/>
                <a:ea typeface="Fira Sans" pitchFamily="34" charset="-122"/>
                <a:cs typeface="Fira Sans" pitchFamily="34" charset="-120"/>
              </a:rPr>
              <a:t>Decreased from 0.4675 (step 50) to 0.0006 (step 2,400).</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995607"/>
            <a:ext cx="9638586"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Real-World Testing and Limitations</a:t>
            </a:r>
            <a:endParaRPr lang="en-US" sz="4450" dirty="0"/>
          </a:p>
        </p:txBody>
      </p:sp>
      <p:sp>
        <p:nvSpPr>
          <p:cNvPr id="3" name="Text 1"/>
          <p:cNvSpPr/>
          <p:nvPr/>
        </p:nvSpPr>
        <p:spPr>
          <a:xfrm>
            <a:off x="793790" y="327136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Real audio</a:t>
            </a:r>
            <a:endParaRPr lang="en-US" sz="2200" dirty="0"/>
          </a:p>
        </p:txBody>
      </p:sp>
      <p:sp>
        <p:nvSpPr>
          <p:cNvPr id="4" name="Text 2"/>
          <p:cNvSpPr/>
          <p:nvPr/>
        </p:nvSpPr>
        <p:spPr>
          <a:xfrm>
            <a:off x="793790" y="3852505"/>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The model is able to perfectly classify all real audio, both in the test sets and real time data</a:t>
            </a:r>
            <a:endParaRPr lang="en-US" sz="1750" dirty="0"/>
          </a:p>
        </p:txBody>
      </p:sp>
      <p:sp>
        <p:nvSpPr>
          <p:cNvPr id="5" name="Text 3"/>
          <p:cNvSpPr/>
          <p:nvPr/>
        </p:nvSpPr>
        <p:spPr>
          <a:xfrm>
            <a:off x="4200406" y="327136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AI generated audio</a:t>
            </a:r>
            <a:endParaRPr lang="en-US" sz="2200" dirty="0"/>
          </a:p>
        </p:txBody>
      </p:sp>
      <p:sp>
        <p:nvSpPr>
          <p:cNvPr id="6" name="Text 4"/>
          <p:cNvSpPr/>
          <p:nvPr/>
        </p:nvSpPr>
        <p:spPr>
          <a:xfrm>
            <a:off x="4200406" y="3852505"/>
            <a:ext cx="2845594" cy="217741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The model is able to also classify AI generated audio if the audio is same as set preset voices generally used for AI audio generation</a:t>
            </a:r>
            <a:endParaRPr lang="en-US" sz="1750" dirty="0"/>
          </a:p>
        </p:txBody>
      </p:sp>
      <p:sp>
        <p:nvSpPr>
          <p:cNvPr id="7" name="Text 5"/>
          <p:cNvSpPr/>
          <p:nvPr/>
        </p:nvSpPr>
        <p:spPr>
          <a:xfrm>
            <a:off x="7607022" y="327136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Deepfake detection</a:t>
            </a:r>
            <a:endParaRPr lang="en-US" sz="2200" dirty="0"/>
          </a:p>
        </p:txBody>
      </p:sp>
      <p:sp>
        <p:nvSpPr>
          <p:cNvPr id="8" name="Text 6"/>
          <p:cNvSpPr/>
          <p:nvPr/>
        </p:nvSpPr>
        <p:spPr>
          <a:xfrm>
            <a:off x="7607022" y="3852505"/>
            <a:ext cx="2845594" cy="1814513"/>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The model fails to detect any deepfake audio as the personification makes the model classify it as real audio</a:t>
            </a:r>
            <a:endParaRPr lang="en-US" sz="1750" dirty="0"/>
          </a:p>
        </p:txBody>
      </p:sp>
      <p:sp>
        <p:nvSpPr>
          <p:cNvPr id="9" name="Text 7"/>
          <p:cNvSpPr/>
          <p:nvPr/>
        </p:nvSpPr>
        <p:spPr>
          <a:xfrm>
            <a:off x="11013638" y="327136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Limitations</a:t>
            </a:r>
            <a:endParaRPr lang="en-US" sz="2200" dirty="0"/>
          </a:p>
        </p:txBody>
      </p:sp>
      <p:sp>
        <p:nvSpPr>
          <p:cNvPr id="10" name="Text 8"/>
          <p:cNvSpPr/>
          <p:nvPr/>
        </p:nvSpPr>
        <p:spPr>
          <a:xfrm>
            <a:off x="11013638" y="3852505"/>
            <a:ext cx="2845594" cy="1451610"/>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The model has limitations of detecting only the preset voices of AI generated audio</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878223"/>
            <a:ext cx="6803708"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Improvements and changes</a:t>
            </a:r>
            <a:endParaRPr lang="en-US" sz="4450" dirty="0"/>
          </a:p>
        </p:txBody>
      </p:sp>
      <p:sp>
        <p:nvSpPr>
          <p:cNvPr id="4" name="Shape 1"/>
          <p:cNvSpPr/>
          <p:nvPr/>
        </p:nvSpPr>
        <p:spPr>
          <a:xfrm>
            <a:off x="793790" y="5040511"/>
            <a:ext cx="3667244" cy="283488"/>
          </a:xfrm>
          <a:prstGeom prst="roundRect">
            <a:avLst>
              <a:gd name="adj" fmla="val 12002"/>
            </a:avLst>
          </a:prstGeom>
          <a:solidFill>
            <a:srgbClr val="433550"/>
          </a:solidFill>
          <a:ln/>
        </p:spPr>
      </p:sp>
      <p:pic>
        <p:nvPicPr>
          <p:cNvPr id="5" name="Image 1" descr="preencoded.png"/>
          <p:cNvPicPr>
            <a:picLocks noChangeAspect="1"/>
          </p:cNvPicPr>
          <p:nvPr/>
        </p:nvPicPr>
        <p:blipFill>
          <a:blip r:embed="rId4"/>
          <a:stretch>
            <a:fillRect/>
          </a:stretch>
        </p:blipFill>
        <p:spPr>
          <a:xfrm>
            <a:off x="793790" y="5040511"/>
            <a:ext cx="2750344" cy="283488"/>
          </a:xfrm>
          <a:prstGeom prst="rect">
            <a:avLst/>
          </a:prstGeom>
        </p:spPr>
      </p:pic>
      <p:sp>
        <p:nvSpPr>
          <p:cNvPr id="6" name="Text 2"/>
          <p:cNvSpPr/>
          <p:nvPr/>
        </p:nvSpPr>
        <p:spPr>
          <a:xfrm>
            <a:off x="4631055" y="5040511"/>
            <a:ext cx="283488" cy="283488"/>
          </a:xfrm>
          <a:prstGeom prst="rect">
            <a:avLst/>
          </a:prstGeom>
          <a:noFill/>
          <a:ln/>
        </p:spPr>
        <p:txBody>
          <a:bodyPr wrap="none" lIns="0" tIns="0" rIns="0" bIns="0" rtlCol="0" anchor="t"/>
          <a:lstStyle/>
          <a:p>
            <a:pPr marL="0" indent="0" algn="l">
              <a:lnSpc>
                <a:spcPts val="2200"/>
              </a:lnSpc>
              <a:buNone/>
            </a:pPr>
            <a:r>
              <a:rPr lang="en-US" sz="2200" b="1" dirty="0">
                <a:solidFill>
                  <a:srgbClr val="DAD1E6"/>
                </a:solidFill>
                <a:latin typeface="Inconsolata Bold" pitchFamily="34" charset="0"/>
                <a:ea typeface="Inconsolata Bold" pitchFamily="34" charset="-122"/>
                <a:cs typeface="Inconsolata Bold" pitchFamily="34" charset="-120"/>
              </a:rPr>
              <a:t>75</a:t>
            </a:r>
            <a:endParaRPr lang="en-US" sz="2200" dirty="0"/>
          </a:p>
        </p:txBody>
      </p:sp>
      <p:sp>
        <p:nvSpPr>
          <p:cNvPr id="7" name="Text 3"/>
          <p:cNvSpPr/>
          <p:nvPr/>
        </p:nvSpPr>
        <p:spPr>
          <a:xfrm>
            <a:off x="793790" y="56073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Computation</a:t>
            </a:r>
            <a:endParaRPr lang="en-US" sz="2200" dirty="0"/>
          </a:p>
        </p:txBody>
      </p:sp>
      <p:sp>
        <p:nvSpPr>
          <p:cNvPr id="8" name="Text 4"/>
          <p:cNvSpPr/>
          <p:nvPr/>
        </p:nvSpPr>
        <p:spPr>
          <a:xfrm>
            <a:off x="793790" y="6097786"/>
            <a:ext cx="4120753" cy="72580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Solved disk space issue via streaming (75 GB saved).</a:t>
            </a:r>
            <a:endParaRPr lang="en-US" sz="1750" dirty="0"/>
          </a:p>
        </p:txBody>
      </p:sp>
      <p:sp>
        <p:nvSpPr>
          <p:cNvPr id="9" name="Shape 5"/>
          <p:cNvSpPr/>
          <p:nvPr/>
        </p:nvSpPr>
        <p:spPr>
          <a:xfrm>
            <a:off x="5254704" y="5040511"/>
            <a:ext cx="3383994" cy="283488"/>
          </a:xfrm>
          <a:prstGeom prst="roundRect">
            <a:avLst>
              <a:gd name="adj" fmla="val 12002"/>
            </a:avLst>
          </a:prstGeom>
          <a:solidFill>
            <a:srgbClr val="433550"/>
          </a:solidFill>
          <a:ln/>
        </p:spPr>
      </p:sp>
      <p:pic>
        <p:nvPicPr>
          <p:cNvPr id="10" name="Image 2" descr="preencoded.png"/>
          <p:cNvPicPr>
            <a:picLocks noChangeAspect="1"/>
          </p:cNvPicPr>
          <p:nvPr/>
        </p:nvPicPr>
        <p:blipFill>
          <a:blip r:embed="rId5"/>
          <a:stretch>
            <a:fillRect/>
          </a:stretch>
        </p:blipFill>
        <p:spPr>
          <a:xfrm>
            <a:off x="5254704" y="5040511"/>
            <a:ext cx="3383994" cy="283488"/>
          </a:xfrm>
          <a:prstGeom prst="rect">
            <a:avLst/>
          </a:prstGeom>
        </p:spPr>
      </p:pic>
      <p:sp>
        <p:nvSpPr>
          <p:cNvPr id="11" name="Text 6"/>
          <p:cNvSpPr/>
          <p:nvPr/>
        </p:nvSpPr>
        <p:spPr>
          <a:xfrm>
            <a:off x="8808720" y="5040511"/>
            <a:ext cx="566857" cy="283488"/>
          </a:xfrm>
          <a:prstGeom prst="rect">
            <a:avLst/>
          </a:prstGeom>
          <a:noFill/>
          <a:ln/>
        </p:spPr>
        <p:txBody>
          <a:bodyPr wrap="none" lIns="0" tIns="0" rIns="0" bIns="0" rtlCol="0" anchor="t"/>
          <a:lstStyle/>
          <a:p>
            <a:pPr marL="0" indent="0" algn="l">
              <a:lnSpc>
                <a:spcPts val="2200"/>
              </a:lnSpc>
              <a:buNone/>
            </a:pPr>
            <a:r>
              <a:rPr lang="en-US" sz="2200" b="1" dirty="0">
                <a:solidFill>
                  <a:srgbClr val="DAD1E6"/>
                </a:solidFill>
                <a:latin typeface="Inconsolata Bold" pitchFamily="34" charset="0"/>
                <a:ea typeface="Inconsolata Bold" pitchFamily="34" charset="-122"/>
                <a:cs typeface="Inconsolata Bold" pitchFamily="34" charset="-120"/>
              </a:rPr>
              <a:t>4000</a:t>
            </a:r>
            <a:endParaRPr lang="en-US" sz="2200" dirty="0"/>
          </a:p>
        </p:txBody>
      </p:sp>
      <p:sp>
        <p:nvSpPr>
          <p:cNvPr id="12" name="Text 7"/>
          <p:cNvSpPr/>
          <p:nvPr/>
        </p:nvSpPr>
        <p:spPr>
          <a:xfrm>
            <a:off x="5254704" y="56073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Robustness</a:t>
            </a:r>
            <a:endParaRPr lang="en-US" sz="2200" dirty="0"/>
          </a:p>
        </p:txBody>
      </p:sp>
      <p:sp>
        <p:nvSpPr>
          <p:cNvPr id="13" name="Text 8"/>
          <p:cNvSpPr/>
          <p:nvPr/>
        </p:nvSpPr>
        <p:spPr>
          <a:xfrm>
            <a:off x="5254704" y="6097786"/>
            <a:ext cx="4120872" cy="1088708"/>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Scaled dataset to 4,000 samples, improving robustness. As opposed to 200 samples in our first presentation</a:t>
            </a:r>
            <a:endParaRPr lang="en-US" sz="1750" dirty="0"/>
          </a:p>
        </p:txBody>
      </p:sp>
      <p:sp>
        <p:nvSpPr>
          <p:cNvPr id="14" name="Shape 9"/>
          <p:cNvSpPr/>
          <p:nvPr/>
        </p:nvSpPr>
        <p:spPr>
          <a:xfrm>
            <a:off x="9715738" y="5040511"/>
            <a:ext cx="3525560" cy="283488"/>
          </a:xfrm>
          <a:prstGeom prst="roundRect">
            <a:avLst>
              <a:gd name="adj" fmla="val 12002"/>
            </a:avLst>
          </a:prstGeom>
          <a:solidFill>
            <a:srgbClr val="433550"/>
          </a:solidFill>
          <a:ln/>
        </p:spPr>
      </p:sp>
      <p:pic>
        <p:nvPicPr>
          <p:cNvPr id="15" name="Image 3" descr="preencoded.png"/>
          <p:cNvPicPr>
            <a:picLocks noChangeAspect="1"/>
          </p:cNvPicPr>
          <p:nvPr/>
        </p:nvPicPr>
        <p:blipFill>
          <a:blip r:embed="rId6"/>
          <a:stretch>
            <a:fillRect/>
          </a:stretch>
        </p:blipFill>
        <p:spPr>
          <a:xfrm>
            <a:off x="9715738" y="5040511"/>
            <a:ext cx="3525560" cy="283488"/>
          </a:xfrm>
          <a:prstGeom prst="rect">
            <a:avLst/>
          </a:prstGeom>
        </p:spPr>
      </p:pic>
      <p:sp>
        <p:nvSpPr>
          <p:cNvPr id="16" name="Text 10"/>
          <p:cNvSpPr/>
          <p:nvPr/>
        </p:nvSpPr>
        <p:spPr>
          <a:xfrm>
            <a:off x="13411319" y="5040511"/>
            <a:ext cx="425172" cy="283488"/>
          </a:xfrm>
          <a:prstGeom prst="rect">
            <a:avLst/>
          </a:prstGeom>
          <a:noFill/>
          <a:ln/>
        </p:spPr>
        <p:txBody>
          <a:bodyPr wrap="none" lIns="0" tIns="0" rIns="0" bIns="0" rtlCol="0" anchor="t"/>
          <a:lstStyle/>
          <a:p>
            <a:pPr marL="0" indent="0" algn="l">
              <a:lnSpc>
                <a:spcPts val="2200"/>
              </a:lnSpc>
              <a:buNone/>
            </a:pPr>
            <a:r>
              <a:rPr lang="en-US" sz="2200" b="1" dirty="0">
                <a:solidFill>
                  <a:srgbClr val="DAD1E6"/>
                </a:solidFill>
                <a:latin typeface="Inconsolata Bold" pitchFamily="34" charset="0"/>
                <a:ea typeface="Inconsolata Bold" pitchFamily="34" charset="-122"/>
                <a:cs typeface="Inconsolata Bold" pitchFamily="34" charset="-120"/>
              </a:rPr>
              <a:t>100</a:t>
            </a:r>
            <a:endParaRPr lang="en-US" sz="2200" dirty="0"/>
          </a:p>
        </p:txBody>
      </p:sp>
      <p:sp>
        <p:nvSpPr>
          <p:cNvPr id="17" name="Text 11"/>
          <p:cNvSpPr/>
          <p:nvPr/>
        </p:nvSpPr>
        <p:spPr>
          <a:xfrm>
            <a:off x="9715738" y="560736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Well trained model</a:t>
            </a:r>
            <a:endParaRPr lang="en-US" sz="2200" dirty="0"/>
          </a:p>
        </p:txBody>
      </p:sp>
      <p:sp>
        <p:nvSpPr>
          <p:cNvPr id="18" name="Text 12"/>
          <p:cNvSpPr/>
          <p:nvPr/>
        </p:nvSpPr>
        <p:spPr>
          <a:xfrm>
            <a:off x="9715738" y="6097786"/>
            <a:ext cx="4120753" cy="725805"/>
          </a:xfrm>
          <a:prstGeom prst="rect">
            <a:avLst/>
          </a:prstGeom>
          <a:noFill/>
          <a:ln/>
        </p:spPr>
        <p:txBody>
          <a:bodyPr wrap="square" lIns="0" tIns="0" rIns="0" bIns="0" rtlCol="0" anchor="t"/>
          <a:lstStyle/>
          <a:p>
            <a:pPr marL="0" indent="0" algn="l">
              <a:lnSpc>
                <a:spcPts val="2850"/>
              </a:lnSpc>
              <a:buNone/>
            </a:pPr>
            <a:r>
              <a:rPr lang="en-US" sz="1750" dirty="0">
                <a:solidFill>
                  <a:srgbClr val="DAD1E6"/>
                </a:solidFill>
                <a:latin typeface="Fira Sans" pitchFamily="34" charset="0"/>
                <a:ea typeface="Fira Sans" pitchFamily="34" charset="-122"/>
                <a:cs typeface="Fira Sans" pitchFamily="34" charset="-120"/>
              </a:rPr>
              <a:t>Achieved perfect eval performance (accuracy = 1.0).</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35925" y="1252776"/>
            <a:ext cx="5256848" cy="656987"/>
          </a:xfrm>
          <a:prstGeom prst="rect">
            <a:avLst/>
          </a:prstGeom>
          <a:noFill/>
          <a:ln/>
        </p:spPr>
        <p:txBody>
          <a:bodyPr wrap="none" lIns="0" tIns="0" rIns="0" bIns="0" rtlCol="0" anchor="t"/>
          <a:lstStyle/>
          <a:p>
            <a:pPr marL="0" indent="0" algn="l">
              <a:lnSpc>
                <a:spcPts val="5150"/>
              </a:lnSpc>
              <a:buNone/>
            </a:pPr>
            <a:r>
              <a:rPr lang="en-US" sz="4100" b="1" dirty="0">
                <a:solidFill>
                  <a:srgbClr val="F94CAF"/>
                </a:solidFill>
                <a:latin typeface="Inconsolata Bold" pitchFamily="34" charset="0"/>
                <a:ea typeface="Inconsolata Bold" pitchFamily="34" charset="-122"/>
                <a:cs typeface="Inconsolata Bold" pitchFamily="34" charset="-120"/>
              </a:rPr>
              <a:t>Improvement plan</a:t>
            </a:r>
            <a:endParaRPr lang="en-US" sz="4100" dirty="0"/>
          </a:p>
        </p:txBody>
      </p:sp>
      <p:sp>
        <p:nvSpPr>
          <p:cNvPr id="4" name="Shape 1"/>
          <p:cNvSpPr/>
          <p:nvPr/>
        </p:nvSpPr>
        <p:spPr>
          <a:xfrm>
            <a:off x="735925" y="2225159"/>
            <a:ext cx="157639" cy="1200983"/>
          </a:xfrm>
          <a:prstGeom prst="roundRect">
            <a:avLst>
              <a:gd name="adj" fmla="val 20009"/>
            </a:avLst>
          </a:prstGeom>
          <a:solidFill>
            <a:srgbClr val="433550"/>
          </a:solidFill>
          <a:ln/>
        </p:spPr>
      </p:sp>
      <p:sp>
        <p:nvSpPr>
          <p:cNvPr id="5" name="Text 2"/>
          <p:cNvSpPr/>
          <p:nvPr/>
        </p:nvSpPr>
        <p:spPr>
          <a:xfrm>
            <a:off x="1208961" y="2225159"/>
            <a:ext cx="3678793" cy="328613"/>
          </a:xfrm>
          <a:prstGeom prst="rect">
            <a:avLst/>
          </a:prstGeom>
          <a:noFill/>
          <a:ln/>
        </p:spPr>
        <p:txBody>
          <a:bodyPr wrap="none" lIns="0" tIns="0" rIns="0" bIns="0" rtlCol="0" anchor="t"/>
          <a:lstStyle/>
          <a:p>
            <a:pPr marL="0" indent="0" algn="l">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Increase Dataset Diversity: </a:t>
            </a:r>
            <a:endParaRPr lang="en-US" sz="2050" dirty="0"/>
          </a:p>
        </p:txBody>
      </p:sp>
      <p:sp>
        <p:nvSpPr>
          <p:cNvPr id="6" name="Text 3"/>
          <p:cNvSpPr/>
          <p:nvPr/>
        </p:nvSpPr>
        <p:spPr>
          <a:xfrm>
            <a:off x="1208961" y="2679859"/>
            <a:ext cx="7199114" cy="336352"/>
          </a:xfrm>
          <a:prstGeom prst="rect">
            <a:avLst/>
          </a:prstGeom>
          <a:noFill/>
          <a:ln/>
        </p:spPr>
        <p:txBody>
          <a:bodyPr wrap="none" lIns="0" tIns="0" rIns="0" bIns="0" rtlCol="0" anchor="t"/>
          <a:lstStyle/>
          <a:p>
            <a:pPr marL="342900" indent="-342900" algn="l">
              <a:lnSpc>
                <a:spcPts val="2600"/>
              </a:lnSpc>
              <a:buSzPct val="100000"/>
              <a:buChar char="•"/>
            </a:pPr>
            <a:r>
              <a:rPr lang="en-US" sz="1650" dirty="0">
                <a:solidFill>
                  <a:srgbClr val="DAD1E6"/>
                </a:solidFill>
                <a:latin typeface="Fira Sans" pitchFamily="34" charset="0"/>
                <a:ea typeface="Fira Sans" pitchFamily="34" charset="-122"/>
                <a:cs typeface="Fira Sans" pitchFamily="34" charset="-120"/>
              </a:rPr>
              <a:t>Add AI audio from Bark, ElevenLabs, and newer models to training set.</a:t>
            </a:r>
            <a:endParaRPr lang="en-US" sz="1650" dirty="0"/>
          </a:p>
        </p:txBody>
      </p:sp>
      <p:sp>
        <p:nvSpPr>
          <p:cNvPr id="7" name="Text 4"/>
          <p:cNvSpPr/>
          <p:nvPr/>
        </p:nvSpPr>
        <p:spPr>
          <a:xfrm>
            <a:off x="1208961" y="3089791"/>
            <a:ext cx="7199114" cy="336352"/>
          </a:xfrm>
          <a:prstGeom prst="rect">
            <a:avLst/>
          </a:prstGeom>
          <a:noFill/>
          <a:ln/>
        </p:spPr>
        <p:txBody>
          <a:bodyPr wrap="none" lIns="0" tIns="0" rIns="0" bIns="0" rtlCol="0" anchor="t"/>
          <a:lstStyle/>
          <a:p>
            <a:pPr marL="342900" indent="-342900" algn="l">
              <a:lnSpc>
                <a:spcPts val="2600"/>
              </a:lnSpc>
              <a:buSzPct val="100000"/>
              <a:buChar char="•"/>
            </a:pPr>
            <a:r>
              <a:rPr lang="en-US" sz="1650" dirty="0">
                <a:solidFill>
                  <a:srgbClr val="DAD1E6"/>
                </a:solidFill>
                <a:latin typeface="Fira Sans" pitchFamily="34" charset="0"/>
                <a:ea typeface="Fira Sans" pitchFamily="34" charset="-122"/>
                <a:cs typeface="Fira Sans" pitchFamily="34" charset="-120"/>
              </a:rPr>
              <a:t>Use data augmentation (Noise, pitch shift) to improve robustness.</a:t>
            </a:r>
            <a:endParaRPr lang="en-US" sz="1650" dirty="0"/>
          </a:p>
        </p:txBody>
      </p:sp>
      <p:sp>
        <p:nvSpPr>
          <p:cNvPr id="8" name="Shape 5"/>
          <p:cNvSpPr/>
          <p:nvPr/>
        </p:nvSpPr>
        <p:spPr>
          <a:xfrm>
            <a:off x="1051322" y="3636407"/>
            <a:ext cx="157639" cy="791051"/>
          </a:xfrm>
          <a:prstGeom prst="roundRect">
            <a:avLst>
              <a:gd name="adj" fmla="val 20009"/>
            </a:avLst>
          </a:prstGeom>
          <a:solidFill>
            <a:srgbClr val="433550"/>
          </a:solidFill>
          <a:ln/>
        </p:spPr>
      </p:sp>
      <p:sp>
        <p:nvSpPr>
          <p:cNvPr id="9" name="Text 6"/>
          <p:cNvSpPr/>
          <p:nvPr/>
        </p:nvSpPr>
        <p:spPr>
          <a:xfrm>
            <a:off x="1524357" y="3636407"/>
            <a:ext cx="2628424" cy="328613"/>
          </a:xfrm>
          <a:prstGeom prst="rect">
            <a:avLst/>
          </a:prstGeom>
          <a:noFill/>
          <a:ln/>
        </p:spPr>
        <p:txBody>
          <a:bodyPr wrap="none" lIns="0" tIns="0" rIns="0" bIns="0" rtlCol="0" anchor="t"/>
          <a:lstStyle/>
          <a:p>
            <a:pPr marL="0" indent="0" algn="l">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Regularization: </a:t>
            </a:r>
            <a:endParaRPr lang="en-US" sz="2050" dirty="0"/>
          </a:p>
        </p:txBody>
      </p:sp>
      <p:sp>
        <p:nvSpPr>
          <p:cNvPr id="10" name="Text 7"/>
          <p:cNvSpPr/>
          <p:nvPr/>
        </p:nvSpPr>
        <p:spPr>
          <a:xfrm>
            <a:off x="1524357" y="4091107"/>
            <a:ext cx="6883718" cy="336352"/>
          </a:xfrm>
          <a:prstGeom prst="rect">
            <a:avLst/>
          </a:prstGeom>
          <a:noFill/>
          <a:ln/>
        </p:spPr>
        <p:txBody>
          <a:bodyPr wrap="none" lIns="0" tIns="0" rIns="0" bIns="0" rtlCol="0" anchor="t"/>
          <a:lstStyle/>
          <a:p>
            <a:pPr marL="342900" indent="-342900" algn="l">
              <a:lnSpc>
                <a:spcPts val="2600"/>
              </a:lnSpc>
              <a:buSzPct val="100000"/>
              <a:buChar char="•"/>
            </a:pPr>
            <a:r>
              <a:rPr lang="en-US" sz="1650" dirty="0">
                <a:solidFill>
                  <a:srgbClr val="DAD1E6"/>
                </a:solidFill>
                <a:latin typeface="Fira Sans" pitchFamily="34" charset="0"/>
                <a:ea typeface="Fira Sans" pitchFamily="34" charset="-122"/>
                <a:cs typeface="Fira Sans" pitchFamily="34" charset="-120"/>
              </a:rPr>
              <a:t>Apply dropout, weight decay, or early stopping to reduce overfitting.</a:t>
            </a:r>
            <a:endParaRPr lang="en-US" sz="1650" dirty="0"/>
          </a:p>
        </p:txBody>
      </p:sp>
      <p:sp>
        <p:nvSpPr>
          <p:cNvPr id="11" name="Shape 8"/>
          <p:cNvSpPr/>
          <p:nvPr/>
        </p:nvSpPr>
        <p:spPr>
          <a:xfrm>
            <a:off x="1366718" y="4637722"/>
            <a:ext cx="157639" cy="791051"/>
          </a:xfrm>
          <a:prstGeom prst="roundRect">
            <a:avLst>
              <a:gd name="adj" fmla="val 20009"/>
            </a:avLst>
          </a:prstGeom>
          <a:solidFill>
            <a:srgbClr val="433550"/>
          </a:solidFill>
          <a:ln/>
        </p:spPr>
      </p:sp>
      <p:sp>
        <p:nvSpPr>
          <p:cNvPr id="12" name="Text 9"/>
          <p:cNvSpPr/>
          <p:nvPr/>
        </p:nvSpPr>
        <p:spPr>
          <a:xfrm>
            <a:off x="1839754" y="4637722"/>
            <a:ext cx="2628424" cy="328613"/>
          </a:xfrm>
          <a:prstGeom prst="rect">
            <a:avLst/>
          </a:prstGeom>
          <a:noFill/>
          <a:ln/>
        </p:spPr>
        <p:txBody>
          <a:bodyPr wrap="none" lIns="0" tIns="0" rIns="0" bIns="0" rtlCol="0" anchor="t"/>
          <a:lstStyle/>
          <a:p>
            <a:pPr marL="0" indent="0" algn="l">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Advanced Models: </a:t>
            </a:r>
            <a:endParaRPr lang="en-US" sz="2050" dirty="0"/>
          </a:p>
        </p:txBody>
      </p:sp>
      <p:sp>
        <p:nvSpPr>
          <p:cNvPr id="13" name="Text 10"/>
          <p:cNvSpPr/>
          <p:nvPr/>
        </p:nvSpPr>
        <p:spPr>
          <a:xfrm>
            <a:off x="1839754" y="5092422"/>
            <a:ext cx="6568321" cy="336352"/>
          </a:xfrm>
          <a:prstGeom prst="rect">
            <a:avLst/>
          </a:prstGeom>
          <a:noFill/>
          <a:ln/>
        </p:spPr>
        <p:txBody>
          <a:bodyPr wrap="none" lIns="0" tIns="0" rIns="0" bIns="0" rtlCol="0" anchor="t"/>
          <a:lstStyle/>
          <a:p>
            <a:pPr marL="342900" indent="-342900" algn="l">
              <a:lnSpc>
                <a:spcPts val="2600"/>
              </a:lnSpc>
              <a:buSzPct val="100000"/>
              <a:buChar char="•"/>
            </a:pPr>
            <a:r>
              <a:rPr lang="en-US" sz="1650" dirty="0">
                <a:solidFill>
                  <a:srgbClr val="DAD1E6"/>
                </a:solidFill>
                <a:latin typeface="Fira Sans" pitchFamily="34" charset="0"/>
                <a:ea typeface="Fira Sans" pitchFamily="34" charset="-122"/>
                <a:cs typeface="Fira Sans" pitchFamily="34" charset="-120"/>
              </a:rPr>
              <a:t>Explore Wav2Vec2-large or HuBERT for better feature extraction.</a:t>
            </a:r>
            <a:endParaRPr lang="en-US" sz="1650" dirty="0"/>
          </a:p>
        </p:txBody>
      </p:sp>
      <p:sp>
        <p:nvSpPr>
          <p:cNvPr id="14" name="Shape 11"/>
          <p:cNvSpPr/>
          <p:nvPr/>
        </p:nvSpPr>
        <p:spPr>
          <a:xfrm>
            <a:off x="1682115" y="5639038"/>
            <a:ext cx="157639" cy="1127403"/>
          </a:xfrm>
          <a:prstGeom prst="roundRect">
            <a:avLst>
              <a:gd name="adj" fmla="val 20009"/>
            </a:avLst>
          </a:prstGeom>
          <a:solidFill>
            <a:srgbClr val="433550"/>
          </a:solidFill>
          <a:ln/>
        </p:spPr>
      </p:sp>
      <p:sp>
        <p:nvSpPr>
          <p:cNvPr id="15" name="Text 12"/>
          <p:cNvSpPr/>
          <p:nvPr/>
        </p:nvSpPr>
        <p:spPr>
          <a:xfrm>
            <a:off x="2155150" y="5639038"/>
            <a:ext cx="3416022" cy="328613"/>
          </a:xfrm>
          <a:prstGeom prst="rect">
            <a:avLst/>
          </a:prstGeom>
          <a:noFill/>
          <a:ln/>
        </p:spPr>
        <p:txBody>
          <a:bodyPr wrap="none" lIns="0" tIns="0" rIns="0" bIns="0" rtlCol="0" anchor="t"/>
          <a:lstStyle/>
          <a:p>
            <a:pPr marL="0" indent="0" algn="l">
              <a:lnSpc>
                <a:spcPts val="2550"/>
              </a:lnSpc>
              <a:buNone/>
            </a:pPr>
            <a:r>
              <a:rPr lang="en-US" sz="2050" b="1" dirty="0">
                <a:solidFill>
                  <a:srgbClr val="DAD1E6"/>
                </a:solidFill>
                <a:latin typeface="Inconsolata Bold" pitchFamily="34" charset="0"/>
                <a:ea typeface="Inconsolata Bold" pitchFamily="34" charset="-122"/>
                <a:cs typeface="Inconsolata Bold" pitchFamily="34" charset="-120"/>
              </a:rPr>
              <a:t>Cross-Dataset Evaluation: </a:t>
            </a:r>
            <a:endParaRPr lang="en-US" sz="2050" dirty="0"/>
          </a:p>
        </p:txBody>
      </p:sp>
      <p:sp>
        <p:nvSpPr>
          <p:cNvPr id="16" name="Text 13"/>
          <p:cNvSpPr/>
          <p:nvPr/>
        </p:nvSpPr>
        <p:spPr>
          <a:xfrm>
            <a:off x="2155150" y="6093738"/>
            <a:ext cx="6252924" cy="672703"/>
          </a:xfrm>
          <a:prstGeom prst="rect">
            <a:avLst/>
          </a:prstGeom>
          <a:noFill/>
          <a:ln/>
        </p:spPr>
        <p:txBody>
          <a:bodyPr wrap="square" lIns="0" tIns="0" rIns="0" bIns="0" rtlCol="0" anchor="t"/>
          <a:lstStyle/>
          <a:p>
            <a:pPr marL="342900" indent="-342900" algn="l">
              <a:lnSpc>
                <a:spcPts val="2600"/>
              </a:lnSpc>
              <a:buSzPct val="100000"/>
              <a:buChar char="•"/>
            </a:pPr>
            <a:r>
              <a:rPr lang="en-US" sz="1650" dirty="0">
                <a:solidFill>
                  <a:srgbClr val="DAD1E6"/>
                </a:solidFill>
                <a:latin typeface="Fira Sans" pitchFamily="34" charset="0"/>
                <a:ea typeface="Fira Sans" pitchFamily="34" charset="-122"/>
                <a:cs typeface="Fira Sans" pitchFamily="34" charset="-120"/>
              </a:rPr>
              <a:t>Test on external datasets (e.g., ASVspoof, FakeAVCeleb) to measure generalization.</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65534"/>
          </a:xfrm>
          <a:prstGeom prst="rect">
            <a:avLst/>
          </a:prstGeom>
        </p:spPr>
      </p:pic>
      <p:sp>
        <p:nvSpPr>
          <p:cNvPr id="3" name="Text 0"/>
          <p:cNvSpPr/>
          <p:nvPr/>
        </p:nvSpPr>
        <p:spPr>
          <a:xfrm>
            <a:off x="662345" y="3036808"/>
            <a:ext cx="5676543" cy="591383"/>
          </a:xfrm>
          <a:prstGeom prst="rect">
            <a:avLst/>
          </a:prstGeom>
          <a:noFill/>
          <a:ln/>
        </p:spPr>
        <p:txBody>
          <a:bodyPr wrap="none" lIns="0" tIns="0" rIns="0" bIns="0" rtlCol="0" anchor="t"/>
          <a:lstStyle/>
          <a:p>
            <a:pPr marL="0" indent="0" algn="l">
              <a:lnSpc>
                <a:spcPts val="4650"/>
              </a:lnSpc>
              <a:buNone/>
            </a:pPr>
            <a:r>
              <a:rPr lang="en-US" sz="3700" b="1" dirty="0">
                <a:solidFill>
                  <a:srgbClr val="F94CAF"/>
                </a:solidFill>
                <a:latin typeface="Inconsolata Bold" pitchFamily="34" charset="0"/>
                <a:ea typeface="Inconsolata Bold" pitchFamily="34" charset="-122"/>
                <a:cs typeface="Inconsolata Bold" pitchFamily="34" charset="-120"/>
              </a:rPr>
              <a:t>Limitation and Reasoning</a:t>
            </a:r>
            <a:endParaRPr lang="en-US" sz="3700" dirty="0"/>
          </a:p>
        </p:txBody>
      </p:sp>
      <p:sp>
        <p:nvSpPr>
          <p:cNvPr id="4" name="Shape 1"/>
          <p:cNvSpPr/>
          <p:nvPr/>
        </p:nvSpPr>
        <p:spPr>
          <a:xfrm>
            <a:off x="662345" y="3912037"/>
            <a:ext cx="6558320" cy="2064306"/>
          </a:xfrm>
          <a:prstGeom prst="roundRect">
            <a:avLst>
              <a:gd name="adj" fmla="val 1375"/>
            </a:avLst>
          </a:prstGeom>
          <a:solidFill>
            <a:srgbClr val="433550"/>
          </a:solidFill>
          <a:ln/>
        </p:spPr>
      </p:sp>
      <p:sp>
        <p:nvSpPr>
          <p:cNvPr id="5" name="Text 2"/>
          <p:cNvSpPr/>
          <p:nvPr/>
        </p:nvSpPr>
        <p:spPr>
          <a:xfrm>
            <a:off x="851535" y="4101227"/>
            <a:ext cx="2365534" cy="295632"/>
          </a:xfrm>
          <a:prstGeom prst="rect">
            <a:avLst/>
          </a:prstGeom>
          <a:noFill/>
          <a:ln/>
        </p:spPr>
        <p:txBody>
          <a:bodyPr wrap="none" lIns="0" tIns="0" rIns="0" bIns="0" rtlCol="0" anchor="t"/>
          <a:lstStyle/>
          <a:p>
            <a:pPr marL="0" indent="0" algn="l">
              <a:lnSpc>
                <a:spcPts val="2300"/>
              </a:lnSpc>
              <a:buNone/>
            </a:pPr>
            <a:r>
              <a:rPr lang="en-US" sz="1850" b="1" dirty="0">
                <a:solidFill>
                  <a:srgbClr val="DAD1E6"/>
                </a:solidFill>
                <a:latin typeface="Inconsolata Bold" pitchFamily="34" charset="0"/>
                <a:ea typeface="Inconsolata Bold" pitchFamily="34" charset="-122"/>
                <a:cs typeface="Inconsolata Bold" pitchFamily="34" charset="-120"/>
              </a:rPr>
              <a:t>Dataset Mismatch:</a:t>
            </a:r>
            <a:endParaRPr lang="en-US" sz="1850" dirty="0"/>
          </a:p>
        </p:txBody>
      </p:sp>
      <p:sp>
        <p:nvSpPr>
          <p:cNvPr id="6" name="Text 3"/>
          <p:cNvSpPr/>
          <p:nvPr/>
        </p:nvSpPr>
        <p:spPr>
          <a:xfrm>
            <a:off x="851535" y="4510326"/>
            <a:ext cx="6179939" cy="605314"/>
          </a:xfrm>
          <a:prstGeom prst="rect">
            <a:avLst/>
          </a:prstGeom>
          <a:noFill/>
          <a:ln/>
        </p:spPr>
        <p:txBody>
          <a:bodyPr wrap="square" lIns="0" tIns="0" rIns="0" bIns="0" rtlCol="0" anchor="t"/>
          <a:lstStyle/>
          <a:p>
            <a:pPr marL="342900" indent="-342900" algn="l">
              <a:lnSpc>
                <a:spcPts val="2350"/>
              </a:lnSpc>
              <a:buSzPct val="100000"/>
              <a:buChar char="•"/>
            </a:pPr>
            <a:r>
              <a:rPr lang="en-US" sz="1450" dirty="0">
                <a:solidFill>
                  <a:srgbClr val="DAD1E6"/>
                </a:solidFill>
                <a:latin typeface="Fira Sans" pitchFamily="34" charset="0"/>
                <a:ea typeface="Fira Sans" pitchFamily="34" charset="-122"/>
                <a:cs typeface="Fira Sans" pitchFamily="34" charset="-120"/>
              </a:rPr>
              <a:t>The wavefake-audio dataset may not include audio generated by the same model</a:t>
            </a:r>
            <a:endParaRPr lang="en-US" sz="1450" dirty="0"/>
          </a:p>
        </p:txBody>
      </p:sp>
      <p:sp>
        <p:nvSpPr>
          <p:cNvPr id="7" name="Text 4"/>
          <p:cNvSpPr/>
          <p:nvPr/>
        </p:nvSpPr>
        <p:spPr>
          <a:xfrm>
            <a:off x="851535" y="5181838"/>
            <a:ext cx="6179939" cy="605314"/>
          </a:xfrm>
          <a:prstGeom prst="rect">
            <a:avLst/>
          </a:prstGeom>
          <a:noFill/>
          <a:ln/>
        </p:spPr>
        <p:txBody>
          <a:bodyPr wrap="square" lIns="0" tIns="0" rIns="0" bIns="0" rtlCol="0" anchor="t"/>
          <a:lstStyle/>
          <a:p>
            <a:pPr marL="342900" indent="-342900" algn="l">
              <a:lnSpc>
                <a:spcPts val="2350"/>
              </a:lnSpc>
              <a:buSzPct val="100000"/>
              <a:buChar char="•"/>
            </a:pPr>
            <a:r>
              <a:rPr lang="en-US" sz="1450" dirty="0">
                <a:solidFill>
                  <a:srgbClr val="DAD1E6"/>
                </a:solidFill>
                <a:latin typeface="Fira Sans" pitchFamily="34" charset="0"/>
                <a:ea typeface="Fira Sans" pitchFamily="34" charset="-122"/>
                <a:cs typeface="Fira Sans" pitchFamily="34" charset="-120"/>
              </a:rPr>
              <a:t>Wavefake-audio contains diverse AI audio, but the model may not generalize to the specific characteristics of the test audio.</a:t>
            </a:r>
            <a:endParaRPr lang="en-US" sz="1450" dirty="0"/>
          </a:p>
        </p:txBody>
      </p:sp>
      <p:sp>
        <p:nvSpPr>
          <p:cNvPr id="8" name="Shape 5"/>
          <p:cNvSpPr/>
          <p:nvPr/>
        </p:nvSpPr>
        <p:spPr>
          <a:xfrm>
            <a:off x="7409855" y="3912037"/>
            <a:ext cx="6558320" cy="2064306"/>
          </a:xfrm>
          <a:prstGeom prst="roundRect">
            <a:avLst>
              <a:gd name="adj" fmla="val 1375"/>
            </a:avLst>
          </a:prstGeom>
          <a:solidFill>
            <a:srgbClr val="433550"/>
          </a:solidFill>
          <a:ln/>
        </p:spPr>
      </p:sp>
      <p:sp>
        <p:nvSpPr>
          <p:cNvPr id="9" name="Text 6"/>
          <p:cNvSpPr/>
          <p:nvPr/>
        </p:nvSpPr>
        <p:spPr>
          <a:xfrm>
            <a:off x="7599045" y="4101227"/>
            <a:ext cx="2365534" cy="295632"/>
          </a:xfrm>
          <a:prstGeom prst="rect">
            <a:avLst/>
          </a:prstGeom>
          <a:noFill/>
          <a:ln/>
        </p:spPr>
        <p:txBody>
          <a:bodyPr wrap="none" lIns="0" tIns="0" rIns="0" bIns="0" rtlCol="0" anchor="t"/>
          <a:lstStyle/>
          <a:p>
            <a:pPr marL="0" indent="0" algn="l">
              <a:lnSpc>
                <a:spcPts val="2300"/>
              </a:lnSpc>
              <a:buNone/>
            </a:pPr>
            <a:r>
              <a:rPr lang="en-US" sz="1850" b="1" dirty="0">
                <a:solidFill>
                  <a:srgbClr val="DAD1E6"/>
                </a:solidFill>
                <a:latin typeface="Inconsolata Bold" pitchFamily="34" charset="0"/>
                <a:ea typeface="Inconsolata Bold" pitchFamily="34" charset="-122"/>
                <a:cs typeface="Inconsolata Bold" pitchFamily="34" charset="-120"/>
              </a:rPr>
              <a:t>Overfitting:</a:t>
            </a:r>
            <a:endParaRPr lang="en-US" sz="1850" dirty="0"/>
          </a:p>
        </p:txBody>
      </p:sp>
      <p:sp>
        <p:nvSpPr>
          <p:cNvPr id="10" name="Text 7"/>
          <p:cNvSpPr/>
          <p:nvPr/>
        </p:nvSpPr>
        <p:spPr>
          <a:xfrm>
            <a:off x="7599045" y="4510326"/>
            <a:ext cx="6179939" cy="907971"/>
          </a:xfrm>
          <a:prstGeom prst="rect">
            <a:avLst/>
          </a:prstGeom>
          <a:noFill/>
          <a:ln/>
        </p:spPr>
        <p:txBody>
          <a:bodyPr wrap="square" lIns="0" tIns="0" rIns="0" bIns="0" rtlCol="0" anchor="t"/>
          <a:lstStyle/>
          <a:p>
            <a:pPr marL="0" indent="0" algn="l">
              <a:lnSpc>
                <a:spcPts val="2350"/>
              </a:lnSpc>
              <a:buNone/>
            </a:pPr>
            <a:r>
              <a:rPr lang="en-US" sz="1450" dirty="0">
                <a:solidFill>
                  <a:srgbClr val="DAD1E6"/>
                </a:solidFill>
                <a:latin typeface="Fira Sans" pitchFamily="34" charset="0"/>
                <a:ea typeface="Fira Sans" pitchFamily="34" charset="-122"/>
                <a:cs typeface="Fira Sans" pitchFamily="34" charset="-120"/>
              </a:rPr>
              <a:t>Perfect eval metrics (accuracy = 1.0) suggest the model may have overfit to the train/eval split, which is drawn from the same interleaved dataset.</a:t>
            </a:r>
            <a:endParaRPr lang="en-US" sz="1450" dirty="0"/>
          </a:p>
        </p:txBody>
      </p:sp>
      <p:sp>
        <p:nvSpPr>
          <p:cNvPr id="11" name="Shape 8"/>
          <p:cNvSpPr/>
          <p:nvPr/>
        </p:nvSpPr>
        <p:spPr>
          <a:xfrm>
            <a:off x="662345" y="6165533"/>
            <a:ext cx="6558320" cy="1392793"/>
          </a:xfrm>
          <a:prstGeom prst="roundRect">
            <a:avLst>
              <a:gd name="adj" fmla="val 2038"/>
            </a:avLst>
          </a:prstGeom>
          <a:solidFill>
            <a:srgbClr val="433550"/>
          </a:solidFill>
          <a:ln/>
        </p:spPr>
      </p:sp>
      <p:sp>
        <p:nvSpPr>
          <p:cNvPr id="12" name="Text 9"/>
          <p:cNvSpPr/>
          <p:nvPr/>
        </p:nvSpPr>
        <p:spPr>
          <a:xfrm>
            <a:off x="851535" y="6354723"/>
            <a:ext cx="3546872" cy="295632"/>
          </a:xfrm>
          <a:prstGeom prst="rect">
            <a:avLst/>
          </a:prstGeom>
          <a:noFill/>
          <a:ln/>
        </p:spPr>
        <p:txBody>
          <a:bodyPr wrap="none" lIns="0" tIns="0" rIns="0" bIns="0" rtlCol="0" anchor="t"/>
          <a:lstStyle/>
          <a:p>
            <a:pPr marL="0" indent="0" algn="l">
              <a:lnSpc>
                <a:spcPts val="2300"/>
              </a:lnSpc>
              <a:buNone/>
            </a:pPr>
            <a:r>
              <a:rPr lang="en-US" sz="1850" b="1" dirty="0">
                <a:solidFill>
                  <a:srgbClr val="DAD1E6"/>
                </a:solidFill>
                <a:latin typeface="Inconsolata Bold" pitchFamily="34" charset="0"/>
                <a:ea typeface="Inconsolata Bold" pitchFamily="34" charset="-122"/>
                <a:cs typeface="Inconsolata Bold" pitchFamily="34" charset="-120"/>
              </a:rPr>
              <a:t>Feature Extraction Limitations</a:t>
            </a:r>
            <a:endParaRPr lang="en-US" sz="1850" dirty="0"/>
          </a:p>
        </p:txBody>
      </p:sp>
      <p:sp>
        <p:nvSpPr>
          <p:cNvPr id="13" name="Text 10"/>
          <p:cNvSpPr/>
          <p:nvPr/>
        </p:nvSpPr>
        <p:spPr>
          <a:xfrm>
            <a:off x="851535" y="6763822"/>
            <a:ext cx="6179939" cy="605314"/>
          </a:xfrm>
          <a:prstGeom prst="rect">
            <a:avLst/>
          </a:prstGeom>
          <a:noFill/>
          <a:ln/>
        </p:spPr>
        <p:txBody>
          <a:bodyPr wrap="square" lIns="0" tIns="0" rIns="0" bIns="0" rtlCol="0" anchor="t"/>
          <a:lstStyle/>
          <a:p>
            <a:pPr marL="0" indent="0" algn="l">
              <a:lnSpc>
                <a:spcPts val="2350"/>
              </a:lnSpc>
              <a:buNone/>
            </a:pPr>
            <a:r>
              <a:rPr lang="en-US" sz="1450" dirty="0">
                <a:solidFill>
                  <a:srgbClr val="DAD1E6"/>
                </a:solidFill>
                <a:latin typeface="Fira Sans" pitchFamily="34" charset="0"/>
                <a:ea typeface="Fira Sans" pitchFamily="34" charset="-122"/>
                <a:cs typeface="Fira Sans" pitchFamily="34" charset="-120"/>
              </a:rPr>
              <a:t>Wav2Vec2FeatureExtractor may not capture subtle differences between real and advanced AI audio (e.g., high-quality ElevenLabs samples).</a:t>
            </a:r>
            <a:endParaRPr lang="en-US" sz="1450" dirty="0"/>
          </a:p>
        </p:txBody>
      </p:sp>
      <p:sp>
        <p:nvSpPr>
          <p:cNvPr id="14" name="Shape 11"/>
          <p:cNvSpPr/>
          <p:nvPr/>
        </p:nvSpPr>
        <p:spPr>
          <a:xfrm>
            <a:off x="7409855" y="6165533"/>
            <a:ext cx="6558320" cy="1392793"/>
          </a:xfrm>
          <a:prstGeom prst="roundRect">
            <a:avLst>
              <a:gd name="adj" fmla="val 2038"/>
            </a:avLst>
          </a:prstGeom>
          <a:solidFill>
            <a:srgbClr val="433550"/>
          </a:solidFill>
          <a:ln/>
        </p:spPr>
      </p:sp>
      <p:sp>
        <p:nvSpPr>
          <p:cNvPr id="15" name="Text 12"/>
          <p:cNvSpPr/>
          <p:nvPr/>
        </p:nvSpPr>
        <p:spPr>
          <a:xfrm>
            <a:off x="7599045" y="6354723"/>
            <a:ext cx="3192185" cy="295632"/>
          </a:xfrm>
          <a:prstGeom prst="rect">
            <a:avLst/>
          </a:prstGeom>
          <a:noFill/>
          <a:ln/>
        </p:spPr>
        <p:txBody>
          <a:bodyPr wrap="none" lIns="0" tIns="0" rIns="0" bIns="0" rtlCol="0" anchor="t"/>
          <a:lstStyle/>
          <a:p>
            <a:pPr marL="0" indent="0" algn="l">
              <a:lnSpc>
                <a:spcPts val="2300"/>
              </a:lnSpc>
              <a:buNone/>
            </a:pPr>
            <a:r>
              <a:rPr lang="en-US" sz="1850" b="1" dirty="0">
                <a:solidFill>
                  <a:srgbClr val="DAD1E6"/>
                </a:solidFill>
                <a:latin typeface="Inconsolata Bold" pitchFamily="34" charset="0"/>
                <a:ea typeface="Inconsolata Bold" pitchFamily="34" charset="-122"/>
                <a:cs typeface="Inconsolata Bold" pitchFamily="34" charset="-120"/>
              </a:rPr>
              <a:t>Insufficient Training Data:</a:t>
            </a:r>
            <a:endParaRPr lang="en-US" sz="1850" dirty="0"/>
          </a:p>
        </p:txBody>
      </p:sp>
      <p:sp>
        <p:nvSpPr>
          <p:cNvPr id="16" name="Text 13"/>
          <p:cNvSpPr/>
          <p:nvPr/>
        </p:nvSpPr>
        <p:spPr>
          <a:xfrm>
            <a:off x="7599045" y="6763822"/>
            <a:ext cx="6179939" cy="605314"/>
          </a:xfrm>
          <a:prstGeom prst="rect">
            <a:avLst/>
          </a:prstGeom>
          <a:noFill/>
          <a:ln/>
        </p:spPr>
        <p:txBody>
          <a:bodyPr wrap="square" lIns="0" tIns="0" rIns="0" bIns="0" rtlCol="0" anchor="t"/>
          <a:lstStyle/>
          <a:p>
            <a:pPr marL="0" indent="0" algn="l">
              <a:lnSpc>
                <a:spcPts val="2350"/>
              </a:lnSpc>
              <a:buNone/>
            </a:pPr>
            <a:r>
              <a:rPr lang="en-US" sz="1450" dirty="0">
                <a:solidFill>
                  <a:srgbClr val="DAD1E6"/>
                </a:solidFill>
                <a:latin typeface="Fira Sans" pitchFamily="34" charset="0"/>
                <a:ea typeface="Fira Sans" pitchFamily="34" charset="-122"/>
                <a:cs typeface="Fira Sans" pitchFamily="34" charset="-120"/>
              </a:rPr>
              <a:t>While 4,000 samples is an improvement, it’s still small compared to the complexity of distinguishing real vs. AI audio across diverse sources.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89503" y="621506"/>
            <a:ext cx="7048500" cy="704850"/>
          </a:xfrm>
          <a:prstGeom prst="rect">
            <a:avLst/>
          </a:prstGeom>
          <a:noFill/>
          <a:ln/>
        </p:spPr>
        <p:txBody>
          <a:bodyPr wrap="none" lIns="0" tIns="0" rIns="0" bIns="0" rtlCol="0" anchor="t"/>
          <a:lstStyle/>
          <a:p>
            <a:pPr marL="0" indent="0" algn="l">
              <a:lnSpc>
                <a:spcPts val="5550"/>
              </a:lnSpc>
              <a:buNone/>
            </a:pPr>
            <a:r>
              <a:rPr lang="en-US" sz="4400" b="1" dirty="0">
                <a:solidFill>
                  <a:srgbClr val="F94CAF"/>
                </a:solidFill>
                <a:latin typeface="Inconsolata Bold" pitchFamily="34" charset="0"/>
                <a:ea typeface="Inconsolata Bold" pitchFamily="34" charset="-122"/>
                <a:cs typeface="Inconsolata Bold" pitchFamily="34" charset="-120"/>
              </a:rPr>
              <a:t>Improvements and progress</a:t>
            </a:r>
            <a:endParaRPr lang="en-US" sz="4400" dirty="0"/>
          </a:p>
        </p:txBody>
      </p:sp>
      <p:sp>
        <p:nvSpPr>
          <p:cNvPr id="3" name="Text 1"/>
          <p:cNvSpPr/>
          <p:nvPr/>
        </p:nvSpPr>
        <p:spPr>
          <a:xfrm>
            <a:off x="789503" y="1664613"/>
            <a:ext cx="2819638" cy="352425"/>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Larger Sample Size</a:t>
            </a:r>
            <a:endParaRPr lang="en-US" sz="2200" dirty="0"/>
          </a:p>
        </p:txBody>
      </p:sp>
      <p:sp>
        <p:nvSpPr>
          <p:cNvPr id="4" name="Text 2"/>
          <p:cNvSpPr/>
          <p:nvPr/>
        </p:nvSpPr>
        <p:spPr>
          <a:xfrm>
            <a:off x="789503" y="2355294"/>
            <a:ext cx="13051393" cy="360998"/>
          </a:xfrm>
          <a:prstGeom prst="rect">
            <a:avLst/>
          </a:prstGeom>
          <a:noFill/>
          <a:ln/>
        </p:spPr>
        <p:txBody>
          <a:bodyPr wrap="none" lIns="0" tIns="0" rIns="0" bIns="0" rtlCol="0" anchor="t"/>
          <a:lstStyle/>
          <a:p>
            <a:pPr marL="0" indent="0" algn="l">
              <a:lnSpc>
                <a:spcPts val="2800"/>
              </a:lnSpc>
              <a:buNone/>
            </a:pPr>
            <a:r>
              <a:rPr lang="en-US" sz="1750" dirty="0">
                <a:solidFill>
                  <a:srgbClr val="DAD1E6"/>
                </a:solidFill>
                <a:latin typeface="Fira Sans" pitchFamily="34" charset="0"/>
                <a:ea typeface="Fira Sans" pitchFamily="34" charset="-122"/>
                <a:cs typeface="Fira Sans" pitchFamily="34" charset="-120"/>
              </a:rPr>
              <a:t>Expand training with more diverse real and AI voice samples. 100 samples each which resulted in longer runtimes</a:t>
            </a:r>
            <a:endParaRPr lang="en-US" sz="1750" dirty="0"/>
          </a:p>
        </p:txBody>
      </p:sp>
      <p:sp>
        <p:nvSpPr>
          <p:cNvPr id="5" name="Text 3"/>
          <p:cNvSpPr/>
          <p:nvPr/>
        </p:nvSpPr>
        <p:spPr>
          <a:xfrm>
            <a:off x="789503" y="3054548"/>
            <a:ext cx="2819638" cy="352425"/>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Advanced Models</a:t>
            </a:r>
            <a:endParaRPr lang="en-US" sz="2200" dirty="0"/>
          </a:p>
        </p:txBody>
      </p:sp>
      <p:sp>
        <p:nvSpPr>
          <p:cNvPr id="6" name="Text 4"/>
          <p:cNvSpPr/>
          <p:nvPr/>
        </p:nvSpPr>
        <p:spPr>
          <a:xfrm>
            <a:off x="789503" y="3745230"/>
            <a:ext cx="13051393" cy="360998"/>
          </a:xfrm>
          <a:prstGeom prst="rect">
            <a:avLst/>
          </a:prstGeom>
          <a:noFill/>
          <a:ln/>
        </p:spPr>
        <p:txBody>
          <a:bodyPr wrap="none" lIns="0" tIns="0" rIns="0" bIns="0" rtlCol="0" anchor="t"/>
          <a:lstStyle/>
          <a:p>
            <a:pPr marL="0" indent="0" algn="l">
              <a:lnSpc>
                <a:spcPts val="2800"/>
              </a:lnSpc>
              <a:buNone/>
            </a:pPr>
            <a:r>
              <a:rPr lang="en-US" sz="1750" dirty="0">
                <a:solidFill>
                  <a:srgbClr val="DAD1E6"/>
                </a:solidFill>
                <a:latin typeface="Fira Sans" pitchFamily="34" charset="0"/>
                <a:ea typeface="Fira Sans" pitchFamily="34" charset="-122"/>
                <a:cs typeface="Fira Sans" pitchFamily="34" charset="-120"/>
              </a:rPr>
              <a:t>Experiment with fine-tuning Wav2Vec2 and bigger transformers. Gave us perfect accuracy on test data </a:t>
            </a:r>
            <a:endParaRPr lang="en-US" sz="1750" dirty="0"/>
          </a:p>
        </p:txBody>
      </p:sp>
      <p:sp>
        <p:nvSpPr>
          <p:cNvPr id="7" name="Text 5"/>
          <p:cNvSpPr/>
          <p:nvPr/>
        </p:nvSpPr>
        <p:spPr>
          <a:xfrm>
            <a:off x="789503" y="4444484"/>
            <a:ext cx="2819638" cy="352425"/>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Uploading User Audio</a:t>
            </a:r>
            <a:endParaRPr lang="en-US" sz="2200" dirty="0"/>
          </a:p>
        </p:txBody>
      </p:sp>
      <p:sp>
        <p:nvSpPr>
          <p:cNvPr id="8" name="Text 6"/>
          <p:cNvSpPr/>
          <p:nvPr/>
        </p:nvSpPr>
        <p:spPr>
          <a:xfrm>
            <a:off x="789503" y="5135166"/>
            <a:ext cx="13051393" cy="721995"/>
          </a:xfrm>
          <a:prstGeom prst="rect">
            <a:avLst/>
          </a:prstGeom>
          <a:noFill/>
          <a:ln/>
        </p:spPr>
        <p:txBody>
          <a:bodyPr wrap="square" lIns="0" tIns="0" rIns="0" bIns="0" rtlCol="0" anchor="t"/>
          <a:lstStyle/>
          <a:p>
            <a:pPr marL="0" indent="0" algn="l">
              <a:lnSpc>
                <a:spcPts val="2800"/>
              </a:lnSpc>
              <a:buNone/>
            </a:pPr>
            <a:r>
              <a:rPr lang="en-US" sz="1750" dirty="0">
                <a:solidFill>
                  <a:srgbClr val="DAD1E6"/>
                </a:solidFill>
                <a:latin typeface="Fira Sans" pitchFamily="34" charset="0"/>
                <a:ea typeface="Fira Sans" pitchFamily="34" charset="-122"/>
                <a:cs typeface="Fira Sans" pitchFamily="34" charset="-120"/>
              </a:rPr>
              <a:t>Developed another algorithm which allows us to upload audios locally and it will automatically change the format and size to that required for the model, we had to learn to use new libraries and resources</a:t>
            </a:r>
            <a:endParaRPr lang="en-US" sz="1750" dirty="0"/>
          </a:p>
        </p:txBody>
      </p:sp>
      <p:sp>
        <p:nvSpPr>
          <p:cNvPr id="9" name="Text 7"/>
          <p:cNvSpPr/>
          <p:nvPr/>
        </p:nvSpPr>
        <p:spPr>
          <a:xfrm>
            <a:off x="789503" y="6195417"/>
            <a:ext cx="2819638" cy="352425"/>
          </a:xfrm>
          <a:prstGeom prst="rect">
            <a:avLst/>
          </a:prstGeom>
          <a:noFill/>
          <a:ln/>
        </p:spPr>
        <p:txBody>
          <a:bodyPr wrap="none" lIns="0" tIns="0" rIns="0" bIns="0" rtlCol="0" anchor="t"/>
          <a:lstStyle/>
          <a:p>
            <a:pPr marL="0" indent="0" algn="l">
              <a:lnSpc>
                <a:spcPts val="2750"/>
              </a:lnSpc>
              <a:buNone/>
            </a:pPr>
            <a:r>
              <a:rPr lang="en-US" sz="2200" b="1" dirty="0">
                <a:solidFill>
                  <a:srgbClr val="F94CAF"/>
                </a:solidFill>
                <a:latin typeface="Inconsolata Bold" pitchFamily="34" charset="0"/>
                <a:ea typeface="Inconsolata Bold" pitchFamily="34" charset="-122"/>
                <a:cs typeface="Inconsolata Bold" pitchFamily="34" charset="-120"/>
              </a:rPr>
              <a:t>Real-Time Detection</a:t>
            </a:r>
            <a:endParaRPr lang="en-US" sz="2200" dirty="0"/>
          </a:p>
        </p:txBody>
      </p:sp>
      <p:sp>
        <p:nvSpPr>
          <p:cNvPr id="10" name="Text 8"/>
          <p:cNvSpPr/>
          <p:nvPr/>
        </p:nvSpPr>
        <p:spPr>
          <a:xfrm>
            <a:off x="789503" y="6886099"/>
            <a:ext cx="13051393" cy="721995"/>
          </a:xfrm>
          <a:prstGeom prst="rect">
            <a:avLst/>
          </a:prstGeom>
          <a:noFill/>
          <a:ln/>
        </p:spPr>
        <p:txBody>
          <a:bodyPr wrap="square" lIns="0" tIns="0" rIns="0" bIns="0" rtlCol="0" anchor="t"/>
          <a:lstStyle/>
          <a:p>
            <a:pPr marL="0" indent="0" algn="l">
              <a:lnSpc>
                <a:spcPts val="2800"/>
              </a:lnSpc>
              <a:buNone/>
            </a:pPr>
            <a:r>
              <a:rPr lang="en-US" sz="1750" dirty="0">
                <a:solidFill>
                  <a:srgbClr val="DAD1E6"/>
                </a:solidFill>
                <a:latin typeface="Fira Sans" pitchFamily="34" charset="0"/>
                <a:ea typeface="Fira Sans" pitchFamily="34" charset="-122"/>
                <a:cs typeface="Fira Sans" pitchFamily="34" charset="-120"/>
              </a:rPr>
              <a:t>The model is currently able to identify the real audios correctly and is also able to classify the AI generated audios correctly, our limitation is when we face AI audio with different sound profiles and deepfakes.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788676"/>
            <a:ext cx="7370683"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Improvement-Presentation-1</a:t>
            </a:r>
            <a:endParaRPr lang="en-US" sz="4450" dirty="0"/>
          </a:p>
        </p:txBody>
      </p:sp>
      <p:sp>
        <p:nvSpPr>
          <p:cNvPr id="4" name="Shape 1"/>
          <p:cNvSpPr/>
          <p:nvPr/>
        </p:nvSpPr>
        <p:spPr>
          <a:xfrm>
            <a:off x="793790" y="2837617"/>
            <a:ext cx="170021" cy="853321"/>
          </a:xfrm>
          <a:prstGeom prst="roundRect">
            <a:avLst>
              <a:gd name="adj" fmla="val 20012"/>
            </a:avLst>
          </a:prstGeom>
          <a:solidFill>
            <a:srgbClr val="433550"/>
          </a:solidFill>
          <a:ln/>
        </p:spPr>
      </p:sp>
      <p:sp>
        <p:nvSpPr>
          <p:cNvPr id="5" name="Text 2"/>
          <p:cNvSpPr/>
          <p:nvPr/>
        </p:nvSpPr>
        <p:spPr>
          <a:xfrm>
            <a:off x="1303973" y="2837617"/>
            <a:ext cx="3258979"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Increase dataset size: </a:t>
            </a:r>
            <a:endParaRPr lang="en-US" sz="2200" dirty="0"/>
          </a:p>
        </p:txBody>
      </p:sp>
      <p:sp>
        <p:nvSpPr>
          <p:cNvPr id="6" name="Text 3"/>
          <p:cNvSpPr/>
          <p:nvPr/>
        </p:nvSpPr>
        <p:spPr>
          <a:xfrm>
            <a:off x="1303973" y="3328035"/>
            <a:ext cx="7046238"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Trained 200 samples as opposed to 100 samples</a:t>
            </a:r>
            <a:endParaRPr lang="en-US" sz="1750" dirty="0"/>
          </a:p>
        </p:txBody>
      </p:sp>
      <p:sp>
        <p:nvSpPr>
          <p:cNvPr id="7" name="Shape 4"/>
          <p:cNvSpPr/>
          <p:nvPr/>
        </p:nvSpPr>
        <p:spPr>
          <a:xfrm>
            <a:off x="1133951" y="3917752"/>
            <a:ext cx="170021" cy="853321"/>
          </a:xfrm>
          <a:prstGeom prst="roundRect">
            <a:avLst>
              <a:gd name="adj" fmla="val 20012"/>
            </a:avLst>
          </a:prstGeom>
          <a:solidFill>
            <a:srgbClr val="433550"/>
          </a:solidFill>
          <a:ln/>
        </p:spPr>
      </p:sp>
      <p:sp>
        <p:nvSpPr>
          <p:cNvPr id="8" name="Text 5"/>
          <p:cNvSpPr/>
          <p:nvPr/>
        </p:nvSpPr>
        <p:spPr>
          <a:xfrm>
            <a:off x="1644134" y="39177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Normalization: </a:t>
            </a:r>
            <a:endParaRPr lang="en-US" sz="2200" dirty="0"/>
          </a:p>
        </p:txBody>
      </p:sp>
      <p:sp>
        <p:nvSpPr>
          <p:cNvPr id="9" name="Text 6"/>
          <p:cNvSpPr/>
          <p:nvPr/>
        </p:nvSpPr>
        <p:spPr>
          <a:xfrm>
            <a:off x="1644134" y="4408170"/>
            <a:ext cx="670607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Added normalization </a:t>
            </a:r>
            <a:endParaRPr lang="en-US" sz="1750" dirty="0"/>
          </a:p>
        </p:txBody>
      </p:sp>
      <p:sp>
        <p:nvSpPr>
          <p:cNvPr id="10" name="Shape 7"/>
          <p:cNvSpPr/>
          <p:nvPr/>
        </p:nvSpPr>
        <p:spPr>
          <a:xfrm>
            <a:off x="1474232" y="4997887"/>
            <a:ext cx="170021" cy="1216223"/>
          </a:xfrm>
          <a:prstGeom prst="roundRect">
            <a:avLst>
              <a:gd name="adj" fmla="val 20012"/>
            </a:avLst>
          </a:prstGeom>
          <a:solidFill>
            <a:srgbClr val="433550"/>
          </a:solidFill>
          <a:ln/>
        </p:spPr>
      </p:sp>
      <p:sp>
        <p:nvSpPr>
          <p:cNvPr id="11" name="Text 8"/>
          <p:cNvSpPr/>
          <p:nvPr/>
        </p:nvSpPr>
        <p:spPr>
          <a:xfrm>
            <a:off x="1984415" y="4997887"/>
            <a:ext cx="3258979"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Cross checking Models: </a:t>
            </a:r>
            <a:endParaRPr lang="en-US" sz="2200" dirty="0"/>
          </a:p>
        </p:txBody>
      </p:sp>
      <p:sp>
        <p:nvSpPr>
          <p:cNvPr id="12" name="Text 9"/>
          <p:cNvSpPr/>
          <p:nvPr/>
        </p:nvSpPr>
        <p:spPr>
          <a:xfrm>
            <a:off x="1984415" y="5488305"/>
            <a:ext cx="636579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Checked if the issue was with the model or with the data availability</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425773"/>
            <a:ext cx="7370683"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Improvement-Presentation-2</a:t>
            </a:r>
            <a:endParaRPr lang="en-US" sz="4450" dirty="0"/>
          </a:p>
        </p:txBody>
      </p:sp>
      <p:sp>
        <p:nvSpPr>
          <p:cNvPr id="4" name="Shape 1"/>
          <p:cNvSpPr/>
          <p:nvPr/>
        </p:nvSpPr>
        <p:spPr>
          <a:xfrm>
            <a:off x="793790" y="2474714"/>
            <a:ext cx="170021" cy="1216223"/>
          </a:xfrm>
          <a:prstGeom prst="roundRect">
            <a:avLst>
              <a:gd name="adj" fmla="val 20012"/>
            </a:avLst>
          </a:prstGeom>
          <a:solidFill>
            <a:srgbClr val="433550"/>
          </a:solidFill>
          <a:ln/>
        </p:spPr>
      </p:sp>
      <p:sp>
        <p:nvSpPr>
          <p:cNvPr id="5" name="Text 2"/>
          <p:cNvSpPr/>
          <p:nvPr/>
        </p:nvSpPr>
        <p:spPr>
          <a:xfrm>
            <a:off x="1303973" y="2474714"/>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Changed dataset: </a:t>
            </a:r>
            <a:endParaRPr lang="en-US" sz="2200" dirty="0"/>
          </a:p>
        </p:txBody>
      </p:sp>
      <p:sp>
        <p:nvSpPr>
          <p:cNvPr id="6" name="Text 3"/>
          <p:cNvSpPr/>
          <p:nvPr/>
        </p:nvSpPr>
        <p:spPr>
          <a:xfrm>
            <a:off x="1303973" y="2965133"/>
            <a:ext cx="7046238"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Chose a more AI specific data instead of x-vector and trained 4000 samples, 2000 from real and 2000 from AI</a:t>
            </a:r>
            <a:endParaRPr lang="en-US" sz="1750" dirty="0"/>
          </a:p>
        </p:txBody>
      </p:sp>
      <p:sp>
        <p:nvSpPr>
          <p:cNvPr id="7" name="Shape 4"/>
          <p:cNvSpPr/>
          <p:nvPr/>
        </p:nvSpPr>
        <p:spPr>
          <a:xfrm>
            <a:off x="1133951" y="3917752"/>
            <a:ext cx="170021" cy="1216223"/>
          </a:xfrm>
          <a:prstGeom prst="roundRect">
            <a:avLst>
              <a:gd name="adj" fmla="val 20012"/>
            </a:avLst>
          </a:prstGeom>
          <a:solidFill>
            <a:srgbClr val="433550"/>
          </a:solidFill>
          <a:ln/>
        </p:spPr>
      </p:sp>
      <p:sp>
        <p:nvSpPr>
          <p:cNvPr id="8" name="Text 5"/>
          <p:cNvSpPr/>
          <p:nvPr/>
        </p:nvSpPr>
        <p:spPr>
          <a:xfrm>
            <a:off x="1644134" y="391775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Streamed data: </a:t>
            </a:r>
            <a:endParaRPr lang="en-US" sz="2200" dirty="0"/>
          </a:p>
        </p:txBody>
      </p:sp>
      <p:sp>
        <p:nvSpPr>
          <p:cNvPr id="9" name="Text 6"/>
          <p:cNvSpPr/>
          <p:nvPr/>
        </p:nvSpPr>
        <p:spPr>
          <a:xfrm>
            <a:off x="1644134" y="4408170"/>
            <a:ext cx="670607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We chose to stream the data onto our model instead of downloading it as it was taking up all the available disk space</a:t>
            </a:r>
            <a:endParaRPr lang="en-US" sz="1750" dirty="0"/>
          </a:p>
        </p:txBody>
      </p:sp>
      <p:sp>
        <p:nvSpPr>
          <p:cNvPr id="10" name="Shape 7"/>
          <p:cNvSpPr/>
          <p:nvPr/>
        </p:nvSpPr>
        <p:spPr>
          <a:xfrm>
            <a:off x="1474232" y="5360789"/>
            <a:ext cx="170021" cy="1216223"/>
          </a:xfrm>
          <a:prstGeom prst="roundRect">
            <a:avLst>
              <a:gd name="adj" fmla="val 20012"/>
            </a:avLst>
          </a:prstGeom>
          <a:solidFill>
            <a:srgbClr val="433550"/>
          </a:solidFill>
          <a:ln/>
        </p:spPr>
      </p:sp>
      <p:sp>
        <p:nvSpPr>
          <p:cNvPr id="11" name="Text 8"/>
          <p:cNvSpPr/>
          <p:nvPr/>
        </p:nvSpPr>
        <p:spPr>
          <a:xfrm>
            <a:off x="1984415" y="5360789"/>
            <a:ext cx="3684032"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Used hugging face tokens: </a:t>
            </a:r>
            <a:endParaRPr lang="en-US" sz="2200" dirty="0"/>
          </a:p>
        </p:txBody>
      </p:sp>
      <p:sp>
        <p:nvSpPr>
          <p:cNvPr id="12" name="Text 9"/>
          <p:cNvSpPr/>
          <p:nvPr/>
        </p:nvSpPr>
        <p:spPr>
          <a:xfrm>
            <a:off x="1984415" y="5851208"/>
            <a:ext cx="636579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Once we checked if the data could be streamed, we used hugging-face tokens in order to stream the data </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62871"/>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F94CAF"/>
                </a:solidFill>
                <a:latin typeface="Inconsolata Bold" pitchFamily="34" charset="0"/>
                <a:ea typeface="Inconsolata Bold" pitchFamily="34" charset="-122"/>
                <a:cs typeface="Inconsolata Bold" pitchFamily="34" charset="-120"/>
              </a:rPr>
              <a:t>Final presentation</a:t>
            </a:r>
            <a:endParaRPr lang="en-US" sz="4450" dirty="0"/>
          </a:p>
        </p:txBody>
      </p:sp>
      <p:sp>
        <p:nvSpPr>
          <p:cNvPr id="4" name="Shape 1"/>
          <p:cNvSpPr/>
          <p:nvPr/>
        </p:nvSpPr>
        <p:spPr>
          <a:xfrm>
            <a:off x="793790" y="2111812"/>
            <a:ext cx="170021" cy="1216223"/>
          </a:xfrm>
          <a:prstGeom prst="roundRect">
            <a:avLst>
              <a:gd name="adj" fmla="val 20012"/>
            </a:avLst>
          </a:prstGeom>
          <a:solidFill>
            <a:srgbClr val="433550"/>
          </a:solidFill>
          <a:ln/>
        </p:spPr>
      </p:sp>
      <p:sp>
        <p:nvSpPr>
          <p:cNvPr id="5" name="Text 2"/>
          <p:cNvSpPr/>
          <p:nvPr/>
        </p:nvSpPr>
        <p:spPr>
          <a:xfrm>
            <a:off x="1303973" y="211181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Improve dataset: </a:t>
            </a:r>
            <a:endParaRPr lang="en-US" sz="2200" dirty="0"/>
          </a:p>
        </p:txBody>
      </p:sp>
      <p:sp>
        <p:nvSpPr>
          <p:cNvPr id="6" name="Text 3"/>
          <p:cNvSpPr/>
          <p:nvPr/>
        </p:nvSpPr>
        <p:spPr>
          <a:xfrm>
            <a:off x="1303973" y="2602230"/>
            <a:ext cx="7046238"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Plan to make the dataset a combination of (Real, AI generated, Deepfake) audios.</a:t>
            </a:r>
            <a:endParaRPr lang="en-US" sz="1750" dirty="0"/>
          </a:p>
        </p:txBody>
      </p:sp>
      <p:sp>
        <p:nvSpPr>
          <p:cNvPr id="7" name="Shape 4"/>
          <p:cNvSpPr/>
          <p:nvPr/>
        </p:nvSpPr>
        <p:spPr>
          <a:xfrm>
            <a:off x="1133951" y="3554849"/>
            <a:ext cx="170021" cy="1579126"/>
          </a:xfrm>
          <a:prstGeom prst="roundRect">
            <a:avLst>
              <a:gd name="adj" fmla="val 20012"/>
            </a:avLst>
          </a:prstGeom>
          <a:solidFill>
            <a:srgbClr val="433550"/>
          </a:solidFill>
          <a:ln/>
        </p:spPr>
      </p:sp>
      <p:sp>
        <p:nvSpPr>
          <p:cNvPr id="8" name="Text 5"/>
          <p:cNvSpPr/>
          <p:nvPr/>
        </p:nvSpPr>
        <p:spPr>
          <a:xfrm>
            <a:off x="1644134" y="3554849"/>
            <a:ext cx="2975610"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Model improvisation: </a:t>
            </a:r>
            <a:endParaRPr lang="en-US" sz="2200" dirty="0"/>
          </a:p>
        </p:txBody>
      </p:sp>
      <p:sp>
        <p:nvSpPr>
          <p:cNvPr id="9" name="Text 6"/>
          <p:cNvSpPr/>
          <p:nvPr/>
        </p:nvSpPr>
        <p:spPr>
          <a:xfrm>
            <a:off x="1644134" y="4045268"/>
            <a:ext cx="6706076"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As the model was struggling to classify Deepfakes and non recognized voices, we are planning to make the model multi classification so it can classify all types of audio correctly</a:t>
            </a:r>
            <a:endParaRPr lang="en-US" sz="1750" dirty="0"/>
          </a:p>
        </p:txBody>
      </p:sp>
      <p:sp>
        <p:nvSpPr>
          <p:cNvPr id="10" name="Shape 7"/>
          <p:cNvSpPr/>
          <p:nvPr/>
        </p:nvSpPr>
        <p:spPr>
          <a:xfrm>
            <a:off x="1474232" y="5360789"/>
            <a:ext cx="170021" cy="1579126"/>
          </a:xfrm>
          <a:prstGeom prst="roundRect">
            <a:avLst>
              <a:gd name="adj" fmla="val 20012"/>
            </a:avLst>
          </a:prstGeom>
          <a:solidFill>
            <a:srgbClr val="433550"/>
          </a:solidFill>
          <a:ln/>
        </p:spPr>
      </p:sp>
      <p:sp>
        <p:nvSpPr>
          <p:cNvPr id="11" name="Text 8"/>
          <p:cNvSpPr/>
          <p:nvPr/>
        </p:nvSpPr>
        <p:spPr>
          <a:xfrm>
            <a:off x="1984415" y="5360789"/>
            <a:ext cx="4675823" cy="354330"/>
          </a:xfrm>
          <a:prstGeom prst="rect">
            <a:avLst/>
          </a:prstGeom>
          <a:noFill/>
          <a:ln/>
        </p:spPr>
        <p:txBody>
          <a:bodyPr wrap="none" lIns="0" tIns="0" rIns="0" bIns="0" rtlCol="0" anchor="t"/>
          <a:lstStyle/>
          <a:p>
            <a:pPr marL="0" indent="0" algn="l">
              <a:lnSpc>
                <a:spcPts val="2750"/>
              </a:lnSpc>
              <a:buNone/>
            </a:pPr>
            <a:r>
              <a:rPr lang="en-US" sz="2200" b="1" dirty="0">
                <a:solidFill>
                  <a:srgbClr val="DAD1E6"/>
                </a:solidFill>
                <a:latin typeface="Inconsolata Bold" pitchFamily="34" charset="0"/>
                <a:ea typeface="Inconsolata Bold" pitchFamily="34" charset="-122"/>
                <a:cs typeface="Inconsolata Bold" pitchFamily="34" charset="-120"/>
              </a:rPr>
              <a:t>Use much more capable computers: </a:t>
            </a:r>
            <a:endParaRPr lang="en-US" sz="2200" dirty="0"/>
          </a:p>
        </p:txBody>
      </p:sp>
      <p:sp>
        <p:nvSpPr>
          <p:cNvPr id="12" name="Text 9"/>
          <p:cNvSpPr/>
          <p:nvPr/>
        </p:nvSpPr>
        <p:spPr>
          <a:xfrm>
            <a:off x="1984415" y="5851208"/>
            <a:ext cx="6365796"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AD1E6"/>
                </a:solidFill>
                <a:latin typeface="Fira Sans" pitchFamily="34" charset="0"/>
                <a:ea typeface="Fira Sans" pitchFamily="34" charset="-122"/>
                <a:cs typeface="Fira Sans" pitchFamily="34" charset="-120"/>
              </a:rPr>
              <a:t>Once we develop the model, we will need to use a computer with far more GPU in order to incorporate the vast data size and model complexity.</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1094</Words>
  <Application>Microsoft Office PowerPoint</Application>
  <PresentationFormat>Custom</PresentationFormat>
  <Paragraphs>135</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Inconsolata Bold</vt:lpstr>
      <vt:lpstr>Fira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Roshan Nair</cp:lastModifiedBy>
  <cp:revision>1</cp:revision>
  <dcterms:created xsi:type="dcterms:W3CDTF">2025-05-30T10:18:00Z</dcterms:created>
  <dcterms:modified xsi:type="dcterms:W3CDTF">2026-02-12T07:36:11Z</dcterms:modified>
</cp:coreProperties>
</file>